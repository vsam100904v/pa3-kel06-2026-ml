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Anton" charset="1" panose="00000500000000000000"/>
      <p:regular r:id="rId23"/>
    </p:embeddedFont>
    <p:embeddedFont>
      <p:font typeface="Agrandir Bold" charset="1" panose="00000800000000000000"/>
      <p:regular r:id="rId24"/>
    </p:embeddedFont>
    <p:embeddedFont>
      <p:font typeface="Agrandir" charset="1" panose="00000500000000000000"/>
      <p:regular r:id="rId25"/>
    </p:embeddedFont>
    <p:embeddedFont>
      <p:font typeface="Agrandir Medium" charset="1" panose="000006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5.png" Type="http://schemas.openxmlformats.org/officeDocument/2006/relationships/image"/><Relationship Id="rId4" Target="../embeddings/oleObject1.bin" Type="http://schemas.openxmlformats.org/officeDocument/2006/relationships/oleObjec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 Id="rId8"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5.png" Type="http://schemas.openxmlformats.org/officeDocument/2006/relationships/image"/><Relationship Id="rId6" Target="../embeddings/oleObject2.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16.png" Type="http://schemas.openxmlformats.org/officeDocument/2006/relationships/image"/><Relationship Id="rId6" Target="../embeddings/oleObject3.bin" Type="http://schemas.openxmlformats.org/officeDocument/2006/relationships/oleObject"/><Relationship Id="rId7"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8.png" Type="http://schemas.openxmlformats.org/officeDocument/2006/relationships/image"/><Relationship Id="rId4" Target="../embeddings/oleObject4.bin" Type="http://schemas.openxmlformats.org/officeDocument/2006/relationships/oleObjec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20.png" Type="http://schemas.openxmlformats.org/officeDocument/2006/relationships/image"/><Relationship Id="rId4" Target="../embeddings/oleObject5.bin" Type="http://schemas.openxmlformats.org/officeDocument/2006/relationships/oleObjec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2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C2756">
                <a:alpha val="100000"/>
              </a:srgbClr>
            </a:gs>
            <a:gs pos="100000">
              <a:srgbClr val="1E527D">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4698670" y="2828936"/>
            <a:ext cx="3590163" cy="8229600"/>
          </a:xfrm>
          <a:custGeom>
            <a:avLst/>
            <a:gdLst/>
            <a:ahLst/>
            <a:cxnLst/>
            <a:rect r="r" b="b" t="t" l="l"/>
            <a:pathLst>
              <a:path h="8229600" w="3590163">
                <a:moveTo>
                  <a:pt x="0" y="0"/>
                </a:moveTo>
                <a:lnTo>
                  <a:pt x="3590163" y="0"/>
                </a:lnTo>
                <a:lnTo>
                  <a:pt x="3590163" y="8229600"/>
                </a:lnTo>
                <a:lnTo>
                  <a:pt x="0" y="8229600"/>
                </a:lnTo>
                <a:lnTo>
                  <a:pt x="0" y="0"/>
                </a:lnTo>
                <a:close/>
              </a:path>
            </a:pathLst>
          </a:custGeom>
          <a:blipFill>
            <a:blip r:embed="rId2">
              <a:alphaModFix amt="63000"/>
            </a:blip>
            <a:stretch>
              <a:fillRect l="0" t="0" r="0" b="0"/>
            </a:stretch>
          </a:blipFill>
        </p:spPr>
      </p:sp>
      <p:sp>
        <p:nvSpPr>
          <p:cNvPr name="Freeform 3" id="3"/>
          <p:cNvSpPr/>
          <p:nvPr/>
        </p:nvSpPr>
        <p:spPr>
          <a:xfrm flipH="true" flipV="false" rot="0">
            <a:off x="0" y="2828936"/>
            <a:ext cx="3590163" cy="8229600"/>
          </a:xfrm>
          <a:custGeom>
            <a:avLst/>
            <a:gdLst/>
            <a:ahLst/>
            <a:cxnLst/>
            <a:rect r="r" b="b" t="t" l="l"/>
            <a:pathLst>
              <a:path h="8229600" w="3590163">
                <a:moveTo>
                  <a:pt x="3590163" y="0"/>
                </a:moveTo>
                <a:lnTo>
                  <a:pt x="0" y="0"/>
                </a:lnTo>
                <a:lnTo>
                  <a:pt x="0" y="8229600"/>
                </a:lnTo>
                <a:lnTo>
                  <a:pt x="3590163" y="8229600"/>
                </a:lnTo>
                <a:lnTo>
                  <a:pt x="3590163" y="0"/>
                </a:lnTo>
                <a:close/>
              </a:path>
            </a:pathLst>
          </a:custGeom>
          <a:blipFill>
            <a:blip r:embed="rId2">
              <a:alphaModFix amt="63000"/>
            </a:blip>
            <a:stretch>
              <a:fillRect l="0" t="0" r="0" b="0"/>
            </a:stretch>
          </a:blipFill>
        </p:spPr>
      </p:sp>
      <p:sp>
        <p:nvSpPr>
          <p:cNvPr name="TextBox 4" id="4"/>
          <p:cNvSpPr txBox="true"/>
          <p:nvPr/>
        </p:nvSpPr>
        <p:spPr>
          <a:xfrm rot="0">
            <a:off x="0" y="2265446"/>
            <a:ext cx="18005922" cy="4459301"/>
          </a:xfrm>
          <a:prstGeom prst="rect">
            <a:avLst/>
          </a:prstGeom>
        </p:spPr>
        <p:txBody>
          <a:bodyPr anchor="t" rtlCol="false" tIns="0" lIns="0" bIns="0" rIns="0">
            <a:spAutoFit/>
          </a:bodyPr>
          <a:lstStyle/>
          <a:p>
            <a:pPr algn="ctr">
              <a:lnSpc>
                <a:spcPts val="11565"/>
              </a:lnSpc>
            </a:pPr>
            <a:r>
              <a:rPr lang="en-US" sz="11121">
                <a:solidFill>
                  <a:srgbClr val="FFFFFF"/>
                </a:solidFill>
                <a:latin typeface="Anton"/>
                <a:ea typeface="Anton"/>
                <a:cs typeface="Anton"/>
                <a:sym typeface="Anton"/>
              </a:rPr>
              <a:t>SISTEM KLASIFIKASI RISIKO KEHAMILAN MULTI-DIMENSI​MENGGUNAKAN RANDOM FOREST</a:t>
            </a:r>
          </a:p>
        </p:txBody>
      </p:sp>
      <p:sp>
        <p:nvSpPr>
          <p:cNvPr name="TextBox 5" id="5"/>
          <p:cNvSpPr txBox="true"/>
          <p:nvPr/>
        </p:nvSpPr>
        <p:spPr>
          <a:xfrm rot="0">
            <a:off x="1795082" y="9426801"/>
            <a:ext cx="14350485" cy="336830"/>
          </a:xfrm>
          <a:prstGeom prst="rect">
            <a:avLst/>
          </a:prstGeom>
        </p:spPr>
        <p:txBody>
          <a:bodyPr anchor="t" rtlCol="false" tIns="0" lIns="0" bIns="0" rIns="0">
            <a:spAutoFit/>
          </a:bodyPr>
          <a:lstStyle/>
          <a:p>
            <a:pPr algn="ctr">
              <a:lnSpc>
                <a:spcPts val="2126"/>
              </a:lnSpc>
              <a:spcBef>
                <a:spcPct val="0"/>
              </a:spcBef>
            </a:pPr>
            <a:r>
              <a:rPr lang="en-US" b="true" sz="2045">
                <a:solidFill>
                  <a:srgbClr val="FFFFFF"/>
                </a:solidFill>
                <a:latin typeface="Agrandir Bold"/>
                <a:ea typeface="Agrandir Bold"/>
                <a:cs typeface="Agrandir Bold"/>
                <a:sym typeface="Agrandir Bold"/>
              </a:rPr>
              <a:t>KELOMPOK 09 PA3 TRPL 2023 | INSTITUT TEKNOLOGI DEL | PEMBIMBING: RIYANTHI ANGRAINY SIANTURI, M.DS​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sp>
        <p:nvSpPr>
          <p:cNvPr name="Freeform 6" id="6"/>
          <p:cNvSpPr/>
          <p:nvPr/>
        </p:nvSpPr>
        <p:spPr>
          <a:xfrm flipH="false" flipV="false" rot="0">
            <a:off x="229859" y="4071944"/>
            <a:ext cx="3940747" cy="4114800"/>
          </a:xfrm>
          <a:custGeom>
            <a:avLst/>
            <a:gdLst/>
            <a:ahLst/>
            <a:cxnLst/>
            <a:rect r="r" b="b" t="t" l="l"/>
            <a:pathLst>
              <a:path h="4114800" w="3940747">
                <a:moveTo>
                  <a:pt x="0" y="0"/>
                </a:moveTo>
                <a:lnTo>
                  <a:pt x="3940747" y="0"/>
                </a:lnTo>
                <a:lnTo>
                  <a:pt x="3940747"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5363327" y="634589"/>
            <a:ext cx="7561347" cy="892997"/>
          </a:xfrm>
          <a:prstGeom prst="rect">
            <a:avLst/>
          </a:prstGeom>
        </p:spPr>
        <p:txBody>
          <a:bodyPr anchor="t" rtlCol="false" tIns="0" lIns="0" bIns="0" rIns="0">
            <a:spAutoFit/>
          </a:bodyPr>
          <a:lstStyle/>
          <a:p>
            <a:pPr algn="ctr">
              <a:lnSpc>
                <a:spcPts val="6875"/>
              </a:lnSpc>
            </a:pPr>
            <a:r>
              <a:rPr lang="en-US" sz="6610">
                <a:solidFill>
                  <a:srgbClr val="FFFFFF"/>
                </a:solidFill>
                <a:latin typeface="Anton"/>
                <a:ea typeface="Anton"/>
                <a:cs typeface="Anton"/>
                <a:sym typeface="Anton"/>
              </a:rPr>
              <a:t>LATAR BELAKANG</a:t>
            </a:r>
          </a:p>
        </p:txBody>
      </p:sp>
      <p:sp>
        <p:nvSpPr>
          <p:cNvPr name="Freeform 8" id="8"/>
          <p:cNvSpPr/>
          <p:nvPr/>
        </p:nvSpPr>
        <p:spPr>
          <a:xfrm flipH="true" flipV="false" rot="0">
            <a:off x="13541127" y="4071944"/>
            <a:ext cx="3940747" cy="4114800"/>
          </a:xfrm>
          <a:custGeom>
            <a:avLst/>
            <a:gdLst/>
            <a:ahLst/>
            <a:cxnLst/>
            <a:rect r="r" b="b" t="t" l="l"/>
            <a:pathLst>
              <a:path h="4114800" w="3940747">
                <a:moveTo>
                  <a:pt x="3940747" y="0"/>
                </a:moveTo>
                <a:lnTo>
                  <a:pt x="0" y="0"/>
                </a:lnTo>
                <a:lnTo>
                  <a:pt x="0" y="4114800"/>
                </a:lnTo>
                <a:lnTo>
                  <a:pt x="3940747" y="4114800"/>
                </a:lnTo>
                <a:lnTo>
                  <a:pt x="394074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4320642" y="2376438"/>
            <a:ext cx="9070450" cy="5715055"/>
          </a:xfrm>
          <a:prstGeom prst="rect">
            <a:avLst/>
          </a:prstGeom>
        </p:spPr>
        <p:txBody>
          <a:bodyPr anchor="t" rtlCol="false" tIns="0" lIns="0" bIns="0" rIns="0">
            <a:spAutoFit/>
          </a:bodyPr>
          <a:lstStyle/>
          <a:p>
            <a:pPr algn="l">
              <a:lnSpc>
                <a:spcPts val="3492"/>
              </a:lnSpc>
            </a:pPr>
            <a:r>
              <a:rPr lang="en-US" sz="2606">
                <a:solidFill>
                  <a:srgbClr val="050056"/>
                </a:solidFill>
                <a:latin typeface="Agrandir"/>
                <a:ea typeface="Agrandir"/>
                <a:cs typeface="Agrandir"/>
                <a:sym typeface="Agrandir"/>
              </a:rPr>
              <a:t>Menurut WHO Sekitar 260.000 wanita meninggal selama dan setelah kehamilan dan persalinan pada tahun 2023. Sekitar 92% dari semua kematian ibu terjadi di negara-negara berpenghasilan rendah dan menengah ke bawah pada tahun 2023, dan sebagian besar dapat dicegah.Angka Kematian Ibu (AKI) di Indonesia masih menjadi masalah kesehatan masyarakat yang serius. Berdasarkan data SDKI (Survei Demografi dan Kesehatan Indonesia) 2021, AKI mencapai 189 per 100.000 kelahiran hidup, angka ini masih jauh dari target Sustainable Development Goals (SDGs) 2030 sebesar 70 per 100.000 kelahiran hidup.</a:t>
            </a:r>
          </a:p>
          <a:p>
            <a:pPr algn="l">
              <a:lnSpc>
                <a:spcPts val="3492"/>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sp>
        <p:nvSpPr>
          <p:cNvPr name="Freeform 6" id="6"/>
          <p:cNvSpPr/>
          <p:nvPr/>
        </p:nvSpPr>
        <p:spPr>
          <a:xfrm flipH="false" flipV="false" rot="0">
            <a:off x="229859" y="4071944"/>
            <a:ext cx="3940747" cy="4114800"/>
          </a:xfrm>
          <a:custGeom>
            <a:avLst/>
            <a:gdLst/>
            <a:ahLst/>
            <a:cxnLst/>
            <a:rect r="r" b="b" t="t" l="l"/>
            <a:pathLst>
              <a:path h="4114800" w="3940747">
                <a:moveTo>
                  <a:pt x="0" y="0"/>
                </a:moveTo>
                <a:lnTo>
                  <a:pt x="3940747" y="0"/>
                </a:lnTo>
                <a:lnTo>
                  <a:pt x="3940747"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133132" y="634589"/>
            <a:ext cx="12021737" cy="892997"/>
          </a:xfrm>
          <a:prstGeom prst="rect">
            <a:avLst/>
          </a:prstGeom>
        </p:spPr>
        <p:txBody>
          <a:bodyPr anchor="t" rtlCol="false" tIns="0" lIns="0" bIns="0" rIns="0">
            <a:spAutoFit/>
          </a:bodyPr>
          <a:lstStyle/>
          <a:p>
            <a:pPr algn="ctr">
              <a:lnSpc>
                <a:spcPts val="6875"/>
              </a:lnSpc>
            </a:pPr>
            <a:r>
              <a:rPr lang="en-US" sz="6610">
                <a:solidFill>
                  <a:srgbClr val="FFFFFF"/>
                </a:solidFill>
                <a:latin typeface="Anton"/>
                <a:ea typeface="Anton"/>
                <a:cs typeface="Anton"/>
                <a:sym typeface="Anton"/>
              </a:rPr>
              <a:t>TUJUAN &amp; MANFAAT</a:t>
            </a:r>
          </a:p>
        </p:txBody>
      </p:sp>
      <p:sp>
        <p:nvSpPr>
          <p:cNvPr name="Freeform 8" id="8"/>
          <p:cNvSpPr/>
          <p:nvPr/>
        </p:nvSpPr>
        <p:spPr>
          <a:xfrm flipH="true" flipV="false" rot="0">
            <a:off x="13541127" y="4071944"/>
            <a:ext cx="3940747" cy="4114800"/>
          </a:xfrm>
          <a:custGeom>
            <a:avLst/>
            <a:gdLst/>
            <a:ahLst/>
            <a:cxnLst/>
            <a:rect r="r" b="b" t="t" l="l"/>
            <a:pathLst>
              <a:path h="4114800" w="3940747">
                <a:moveTo>
                  <a:pt x="3940747" y="0"/>
                </a:moveTo>
                <a:lnTo>
                  <a:pt x="0" y="0"/>
                </a:lnTo>
                <a:lnTo>
                  <a:pt x="0" y="4114800"/>
                </a:lnTo>
                <a:lnTo>
                  <a:pt x="3940747" y="4114800"/>
                </a:lnTo>
                <a:lnTo>
                  <a:pt x="394074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5023924" y="3071043"/>
            <a:ext cx="8934959" cy="3916751"/>
          </a:xfrm>
          <a:prstGeom prst="rect">
            <a:avLst/>
          </a:prstGeom>
        </p:spPr>
        <p:txBody>
          <a:bodyPr anchor="t" rtlCol="false" tIns="0" lIns="0" bIns="0" rIns="0">
            <a:spAutoFit/>
          </a:bodyPr>
          <a:lstStyle/>
          <a:p>
            <a:pPr algn="l" marL="554305" indent="-277152" lvl="1">
              <a:lnSpc>
                <a:spcPts val="3440"/>
              </a:lnSpc>
              <a:buFont typeface="Arial"/>
              <a:buChar char="•"/>
            </a:pPr>
            <a:r>
              <a:rPr lang="en-US" sz="2567">
                <a:solidFill>
                  <a:srgbClr val="050056"/>
                </a:solidFill>
                <a:latin typeface="Agrandir"/>
                <a:ea typeface="Agrandir"/>
                <a:cs typeface="Agrandir"/>
                <a:sym typeface="Agrandir"/>
              </a:rPr>
              <a:t>Normal (Risiko Rendah)</a:t>
            </a:r>
          </a:p>
          <a:p>
            <a:pPr algn="l" marL="554305" indent="-277152" lvl="1">
              <a:lnSpc>
                <a:spcPts val="3440"/>
              </a:lnSpc>
              <a:buFont typeface="Arial"/>
              <a:buChar char="•"/>
            </a:pPr>
            <a:r>
              <a:rPr lang="en-US" sz="2567">
                <a:solidFill>
                  <a:srgbClr val="050056"/>
                </a:solidFill>
                <a:latin typeface="Agrandir"/>
                <a:ea typeface="Agrandir"/>
                <a:cs typeface="Agrandir"/>
                <a:sym typeface="Agrandir"/>
              </a:rPr>
              <a:t>Perlu Tindakan (Risiko Sedang)</a:t>
            </a:r>
          </a:p>
          <a:p>
            <a:pPr algn="l" marL="1108610" indent="-369537" lvl="2">
              <a:lnSpc>
                <a:spcPts val="3440"/>
              </a:lnSpc>
              <a:buFont typeface="Arial"/>
              <a:buChar char="⚬"/>
            </a:pPr>
            <a:r>
              <a:rPr lang="en-US" sz="2567">
                <a:solidFill>
                  <a:srgbClr val="050056"/>
                </a:solidFill>
                <a:latin typeface="Agrandir"/>
                <a:ea typeface="Agrandir"/>
                <a:cs typeface="Agrandir"/>
                <a:sym typeface="Agrandir"/>
              </a:rPr>
              <a:t>Resiko Stunting bayi</a:t>
            </a:r>
          </a:p>
          <a:p>
            <a:pPr algn="l" marL="554305" indent="-277152" lvl="1">
              <a:lnSpc>
                <a:spcPts val="3440"/>
              </a:lnSpc>
              <a:buFont typeface="Arial"/>
              <a:buChar char="•"/>
            </a:pPr>
            <a:r>
              <a:rPr lang="en-US" sz="2567">
                <a:solidFill>
                  <a:srgbClr val="050056"/>
                </a:solidFill>
                <a:latin typeface="Agrandir"/>
                <a:ea typeface="Agrandir"/>
                <a:cs typeface="Agrandir"/>
                <a:sym typeface="Agrandir"/>
              </a:rPr>
              <a:t>Perlu Rujukan (Risiko Tinggi)</a:t>
            </a:r>
          </a:p>
          <a:p>
            <a:pPr algn="l" marL="1108610" indent="-369537" lvl="2">
              <a:lnSpc>
                <a:spcPts val="3440"/>
              </a:lnSpc>
              <a:buFont typeface="Arial"/>
              <a:buChar char="⚬"/>
            </a:pPr>
            <a:r>
              <a:rPr lang="en-US" sz="2567">
                <a:solidFill>
                  <a:srgbClr val="050056"/>
                </a:solidFill>
                <a:latin typeface="Agrandir"/>
                <a:ea typeface="Agrandir"/>
                <a:cs typeface="Agrandir"/>
                <a:sym typeface="Agrandir"/>
              </a:rPr>
              <a:t>Resiko Kematian ibu</a:t>
            </a:r>
          </a:p>
          <a:p>
            <a:pPr algn="l" marL="1108610" indent="-369537" lvl="2">
              <a:lnSpc>
                <a:spcPts val="3440"/>
              </a:lnSpc>
              <a:buFont typeface="Arial"/>
              <a:buChar char="⚬"/>
            </a:pPr>
            <a:r>
              <a:rPr lang="en-US" sz="2567">
                <a:solidFill>
                  <a:srgbClr val="050056"/>
                </a:solidFill>
                <a:latin typeface="Agrandir"/>
                <a:ea typeface="Agrandir"/>
                <a:cs typeface="Agrandir"/>
                <a:sym typeface="Agrandir"/>
              </a:rPr>
              <a:t>Resiko Kematian ibu</a:t>
            </a:r>
          </a:p>
          <a:p>
            <a:pPr algn="l" marL="1108610" indent="-369537" lvl="2">
              <a:lnSpc>
                <a:spcPts val="3440"/>
              </a:lnSpc>
              <a:buFont typeface="Arial"/>
              <a:buChar char="⚬"/>
            </a:pPr>
            <a:r>
              <a:rPr lang="en-US" sz="2567">
                <a:solidFill>
                  <a:srgbClr val="050056"/>
                </a:solidFill>
                <a:latin typeface="Agrandir"/>
                <a:ea typeface="Agrandir"/>
                <a:cs typeface="Agrandir"/>
                <a:sym typeface="Agrandir"/>
              </a:rPr>
              <a:t>Resiko Preeklamsia</a:t>
            </a:r>
          </a:p>
          <a:p>
            <a:pPr algn="l" marL="1108610" indent="-369537" lvl="2">
              <a:lnSpc>
                <a:spcPts val="3440"/>
              </a:lnSpc>
              <a:buFont typeface="Arial"/>
              <a:buChar char="⚬"/>
            </a:pPr>
            <a:r>
              <a:rPr lang="en-US" sz="2567">
                <a:solidFill>
                  <a:srgbClr val="050056"/>
                </a:solidFill>
                <a:latin typeface="Agrandir"/>
                <a:ea typeface="Agrandir"/>
                <a:cs typeface="Agrandir"/>
                <a:sym typeface="Agrandir"/>
              </a:rPr>
              <a:t>Resiko Anemia berat</a:t>
            </a:r>
          </a:p>
          <a:p>
            <a:pPr algn="l" marL="1108610" indent="-369537" lvl="2">
              <a:lnSpc>
                <a:spcPts val="3440"/>
              </a:lnSpc>
              <a:buFont typeface="Arial"/>
              <a:buChar char="⚬"/>
            </a:pPr>
            <a:r>
              <a:rPr lang="en-US" sz="2567">
                <a:solidFill>
                  <a:srgbClr val="050056"/>
                </a:solidFill>
                <a:latin typeface="Agrandir"/>
                <a:ea typeface="Agrandir"/>
                <a:cs typeface="Agrandir"/>
                <a:sym typeface="Agrandir"/>
              </a:rPr>
              <a:t>Resiko Infeksi Menular</a:t>
            </a:r>
          </a:p>
        </p:txBody>
      </p:sp>
      <p:sp>
        <p:nvSpPr>
          <p:cNvPr name="TextBox 10" id="10"/>
          <p:cNvSpPr txBox="true"/>
          <p:nvPr/>
        </p:nvSpPr>
        <p:spPr>
          <a:xfrm rot="0">
            <a:off x="3381111" y="2690819"/>
            <a:ext cx="3666626" cy="380224"/>
          </a:xfrm>
          <a:prstGeom prst="rect">
            <a:avLst/>
          </a:prstGeom>
        </p:spPr>
        <p:txBody>
          <a:bodyPr anchor="t" rtlCol="false" tIns="0" lIns="0" bIns="0" rIns="0">
            <a:spAutoFit/>
          </a:bodyPr>
          <a:lstStyle/>
          <a:p>
            <a:pPr algn="ctr">
              <a:lnSpc>
                <a:spcPts val="2948"/>
              </a:lnSpc>
            </a:pPr>
            <a:r>
              <a:rPr lang="en-US" sz="2834">
                <a:solidFill>
                  <a:srgbClr val="050056"/>
                </a:solidFill>
                <a:latin typeface="Anton"/>
                <a:ea typeface="Anton"/>
                <a:cs typeface="Anton"/>
                <a:sym typeface="Anton"/>
              </a:rPr>
              <a:t>TARGET LABEL</a:t>
            </a:r>
          </a:p>
        </p:txBody>
      </p:sp>
      <p:sp>
        <p:nvSpPr>
          <p:cNvPr name="TextBox 11" id="11"/>
          <p:cNvSpPr txBox="true"/>
          <p:nvPr/>
        </p:nvSpPr>
        <p:spPr>
          <a:xfrm rot="0">
            <a:off x="4170606" y="7099497"/>
            <a:ext cx="1326645" cy="380224"/>
          </a:xfrm>
          <a:prstGeom prst="rect">
            <a:avLst/>
          </a:prstGeom>
        </p:spPr>
        <p:txBody>
          <a:bodyPr anchor="t" rtlCol="false" tIns="0" lIns="0" bIns="0" rIns="0">
            <a:spAutoFit/>
          </a:bodyPr>
          <a:lstStyle/>
          <a:p>
            <a:pPr algn="ctr">
              <a:lnSpc>
                <a:spcPts val="2948"/>
              </a:lnSpc>
            </a:pPr>
            <a:r>
              <a:rPr lang="en-US" sz="2834">
                <a:solidFill>
                  <a:srgbClr val="050056"/>
                </a:solidFill>
                <a:latin typeface="Anton"/>
                <a:ea typeface="Anton"/>
                <a:cs typeface="Anton"/>
                <a:sym typeface="Anton"/>
              </a:rPr>
              <a:t>TUJUAN</a:t>
            </a:r>
          </a:p>
        </p:txBody>
      </p:sp>
      <p:sp>
        <p:nvSpPr>
          <p:cNvPr name="TextBox 12" id="12"/>
          <p:cNvSpPr txBox="true"/>
          <p:nvPr/>
        </p:nvSpPr>
        <p:spPr>
          <a:xfrm rot="0">
            <a:off x="4557571" y="7424744"/>
            <a:ext cx="10687442" cy="1662882"/>
          </a:xfrm>
          <a:prstGeom prst="rect">
            <a:avLst/>
          </a:prstGeom>
        </p:spPr>
        <p:txBody>
          <a:bodyPr anchor="t" rtlCol="false" tIns="0" lIns="0" bIns="0" rIns="0">
            <a:spAutoFit/>
          </a:bodyPr>
          <a:lstStyle/>
          <a:p>
            <a:pPr algn="l" marL="511126" indent="-255563" lvl="1">
              <a:lnSpc>
                <a:spcPts val="3172"/>
              </a:lnSpc>
              <a:buFont typeface="Arial"/>
              <a:buChar char="•"/>
            </a:pPr>
            <a:r>
              <a:rPr lang="en-US" b="true" sz="2367">
                <a:solidFill>
                  <a:srgbClr val="050056"/>
                </a:solidFill>
                <a:latin typeface="Agrandir Medium"/>
                <a:ea typeface="Agrandir Medium"/>
                <a:cs typeface="Agrandir Medium"/>
                <a:sym typeface="Agrandir Medium"/>
              </a:rPr>
              <a:t>Memprediksi tingkat</a:t>
            </a:r>
            <a:r>
              <a:rPr lang="en-US" b="true" sz="2367">
                <a:solidFill>
                  <a:srgbClr val="050056"/>
                </a:solidFill>
                <a:latin typeface="Agrandir Medium"/>
                <a:ea typeface="Agrandir Medium"/>
                <a:cs typeface="Agrandir Medium"/>
                <a:sym typeface="Agrandir Medium"/>
              </a:rPr>
              <a:t> risiko kehamilan s</a:t>
            </a:r>
            <a:r>
              <a:rPr lang="en-US" b="true" sz="2367">
                <a:solidFill>
                  <a:srgbClr val="050056"/>
                </a:solidFill>
                <a:latin typeface="Agrandir Medium"/>
                <a:ea typeface="Agrandir Medium"/>
                <a:cs typeface="Agrandir Medium"/>
                <a:sym typeface="Agrandir Medium"/>
              </a:rPr>
              <a:t>ecara objektif</a:t>
            </a:r>
          </a:p>
          <a:p>
            <a:pPr algn="l" marL="511126" indent="-255563" lvl="1">
              <a:lnSpc>
                <a:spcPts val="3172"/>
              </a:lnSpc>
              <a:buFont typeface="Arial"/>
              <a:buChar char="•"/>
            </a:pPr>
            <a:r>
              <a:rPr lang="en-US" b="true" sz="2367">
                <a:solidFill>
                  <a:srgbClr val="050056"/>
                </a:solidFill>
                <a:latin typeface="Agrandir Medium"/>
                <a:ea typeface="Agrandir Medium"/>
                <a:cs typeface="Agrandir Medium"/>
                <a:sym typeface="Agrandir Medium"/>
              </a:rPr>
              <a:t>Membantu tenaga kesehatan dalam pengambilan keputusan</a:t>
            </a:r>
          </a:p>
          <a:p>
            <a:pPr algn="l" marL="511126" indent="-255563" lvl="1">
              <a:lnSpc>
                <a:spcPts val="3172"/>
              </a:lnSpc>
              <a:buFont typeface="Arial"/>
              <a:buChar char="•"/>
            </a:pPr>
            <a:r>
              <a:rPr lang="en-US" b="true" sz="2367">
                <a:solidFill>
                  <a:srgbClr val="050056"/>
                </a:solidFill>
                <a:latin typeface="Agrandir Medium"/>
                <a:ea typeface="Agrandir Medium"/>
                <a:cs typeface="Agrandir Medium"/>
                <a:sym typeface="Agrandir Medium"/>
              </a:rPr>
              <a:t>Menurunkan angka keterlambatan penanganan </a:t>
            </a:r>
          </a:p>
          <a:p>
            <a:pPr algn="l">
              <a:lnSpc>
                <a:spcPts val="3172"/>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graphicFrame>
        <p:nvGraphicFramePr>
          <p:cNvPr name="Table 6" id="6"/>
          <p:cNvGraphicFramePr>
            <a:graphicFrameLocks noGrp="true"/>
          </p:cNvGraphicFramePr>
          <p:nvPr/>
        </p:nvGraphicFramePr>
        <p:xfrm>
          <a:off x="1028700" y="3086100"/>
          <a:ext cx="7020520" cy="3103379"/>
        </p:xfrm>
        <a:graphic>
          <a:graphicData uri="http://schemas.openxmlformats.org/drawingml/2006/table">
            <a:tbl>
              <a:tblPr/>
              <a:tblGrid>
                <a:gridCol w="7020520"/>
              </a:tblGrid>
              <a:tr h="1165057">
                <a:tc>
                  <a:txBody>
                    <a:bodyPr anchor="t" rtlCol="false"/>
                    <a:lstStyle/>
                    <a:p>
                      <a:pPr algn="ctr">
                        <a:lnSpc>
                          <a:spcPts val="2863"/>
                        </a:lnSpc>
                        <a:defRPr/>
                      </a:pPr>
                      <a:r>
                        <a:rPr lang="en-US" sz="2045" b="true">
                          <a:solidFill>
                            <a:srgbClr val="FFFFFF"/>
                          </a:solidFill>
                          <a:latin typeface="Agrandir Bold"/>
                          <a:ea typeface="Agrandir Bold"/>
                          <a:cs typeface="Agrandir Bold"/>
                          <a:sym typeface="Agrandir Bold"/>
                        </a:rPr>
                        <a:t>Model 1 Random Forest Overall​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191919"/>
                    </a:solidFill>
                  </a:tcPr>
                </a:tc>
              </a:tr>
              <a:tr h="1938322">
                <a:tc>
                  <a:txBody>
                    <a:bodyPr anchor="t" rtlCol="false"/>
                    <a:lstStyle/>
                    <a:p>
                      <a:pPr algn="ctr">
                        <a:lnSpc>
                          <a:spcPts val="2863"/>
                        </a:lnSpc>
                        <a:defRPr/>
                      </a:pPr>
                      <a:r>
                        <a:rPr lang="en-US" sz="2045">
                          <a:solidFill>
                            <a:srgbClr val="000000"/>
                          </a:solidFill>
                          <a:latin typeface="Agrandir"/>
                          <a:ea typeface="Agrandir"/>
                          <a:cs typeface="Agrandir"/>
                          <a:sym typeface="Agrandir"/>
                        </a:rPr>
                        <a:t>Input: 41 fitur klinis ANC​</a:t>
                      </a:r>
                      <a:endParaRPr lang="en-US" sz="1100"/>
                    </a:p>
                    <a:p>
                      <a:pPr algn="ctr">
                        <a:lnSpc>
                          <a:spcPts val="2863"/>
                        </a:lnSpc>
                      </a:pPr>
                      <a:r>
                        <a:rPr lang="en-US" sz="2045">
                          <a:solidFill>
                            <a:srgbClr val="000000"/>
                          </a:solidFill>
                          <a:latin typeface="Agrandir"/>
                          <a:ea typeface="Agrandir"/>
                          <a:cs typeface="Agrandir"/>
                          <a:sym typeface="Agrandir"/>
                        </a:rPr>
                        <a:t>Output: 1 label (3 kelas)​</a:t>
                      </a:r>
                    </a:p>
                    <a:p>
                      <a:pPr algn="ctr">
                        <a:lnSpc>
                          <a:spcPts val="2863"/>
                        </a:lnSpc>
                      </a:pPr>
                      <a:r>
                        <a:rPr lang="en-US" sz="2045">
                          <a:solidFill>
                            <a:srgbClr val="000000"/>
                          </a:solidFill>
                          <a:latin typeface="Agrandir"/>
                          <a:ea typeface="Agrandir"/>
                          <a:cs typeface="Agrandir"/>
                          <a:sym typeface="Agrandir"/>
                        </a:rPr>
                        <a:t>Accuracy: 95.55%​</a:t>
                      </a:r>
                    </a:p>
                    <a:p>
                      <a:pPr algn="ctr">
                        <a:lnSpc>
                          <a:spcPts val="2863"/>
                        </a:lnSpc>
                      </a:pPr>
                      <a:r>
                        <a:rPr lang="en-US" sz="2045">
                          <a:solidFill>
                            <a:srgbClr val="000000"/>
                          </a:solidFill>
                          <a:latin typeface="Agrandir"/>
                          <a:ea typeface="Agrandir"/>
                          <a:cs typeface="Agrandir"/>
                          <a:sym typeface="Agrandir"/>
                        </a:rPr>
                        <a:t>Algoritma: Random Forest (200 trees)</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7" id="7"/>
          <p:cNvSpPr txBox="true"/>
          <p:nvPr/>
        </p:nvSpPr>
        <p:spPr>
          <a:xfrm rot="0">
            <a:off x="3133132" y="634589"/>
            <a:ext cx="12021737" cy="892997"/>
          </a:xfrm>
          <a:prstGeom prst="rect">
            <a:avLst/>
          </a:prstGeom>
        </p:spPr>
        <p:txBody>
          <a:bodyPr anchor="t" rtlCol="false" tIns="0" lIns="0" bIns="0" rIns="0">
            <a:spAutoFit/>
          </a:bodyPr>
          <a:lstStyle/>
          <a:p>
            <a:pPr algn="ctr">
              <a:lnSpc>
                <a:spcPts val="6875"/>
              </a:lnSpc>
            </a:pPr>
            <a:r>
              <a:rPr lang="en-US" sz="6610">
                <a:solidFill>
                  <a:srgbClr val="FFFFFF"/>
                </a:solidFill>
                <a:latin typeface="Anton"/>
                <a:ea typeface="Anton"/>
                <a:cs typeface="Anton"/>
                <a:sym typeface="Anton"/>
              </a:rPr>
              <a:t>PEMILIHAN MODEL</a:t>
            </a:r>
          </a:p>
        </p:txBody>
      </p:sp>
      <p:graphicFrame>
        <p:nvGraphicFramePr>
          <p:cNvPr name="Table 8" id="8"/>
          <p:cNvGraphicFramePr>
            <a:graphicFrameLocks noGrp="true"/>
          </p:cNvGraphicFramePr>
          <p:nvPr/>
        </p:nvGraphicFramePr>
        <p:xfrm>
          <a:off x="10238780" y="3086100"/>
          <a:ext cx="7020520" cy="3103379"/>
        </p:xfrm>
        <a:graphic>
          <a:graphicData uri="http://schemas.openxmlformats.org/drawingml/2006/table">
            <a:tbl>
              <a:tblPr/>
              <a:tblGrid>
                <a:gridCol w="7020520"/>
              </a:tblGrid>
              <a:tr h="1165057">
                <a:tc>
                  <a:txBody>
                    <a:bodyPr anchor="t" rtlCol="false"/>
                    <a:lstStyle/>
                    <a:p>
                      <a:pPr algn="ctr">
                        <a:lnSpc>
                          <a:spcPts val="2863"/>
                        </a:lnSpc>
                        <a:defRPr/>
                      </a:pPr>
                      <a:r>
                        <a:rPr lang="en-US" sz="2045" b="true">
                          <a:solidFill>
                            <a:srgbClr val="FFFFFF"/>
                          </a:solidFill>
                          <a:latin typeface="Agrandir Bold"/>
                          <a:ea typeface="Agrandir Bold"/>
                          <a:cs typeface="Agrandir Bold"/>
                          <a:sym typeface="Agrandir Bold"/>
                        </a:rPr>
                        <a:t>Model 2  MultiOutput Random Forest​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191919"/>
                    </a:solidFill>
                  </a:tcPr>
                </a:tc>
              </a:tr>
              <a:tr h="1938322">
                <a:tc>
                  <a:txBody>
                    <a:bodyPr anchor="t" rtlCol="false"/>
                    <a:lstStyle/>
                    <a:p>
                      <a:pPr algn="ctr">
                        <a:lnSpc>
                          <a:spcPts val="2863"/>
                        </a:lnSpc>
                        <a:defRPr/>
                      </a:pPr>
                      <a:r>
                        <a:rPr lang="en-US" sz="2045">
                          <a:solidFill>
                            <a:srgbClr val="000000"/>
                          </a:solidFill>
                          <a:latin typeface="Agrandir"/>
                          <a:ea typeface="Agrandir"/>
                          <a:cs typeface="Agrandir"/>
                          <a:sym typeface="Agrandir"/>
                        </a:rPr>
                        <a:t>Input: 41 fitur klinis ANC​</a:t>
                      </a:r>
                      <a:endParaRPr lang="en-US" sz="1100"/>
                    </a:p>
                    <a:p>
                      <a:pPr algn="ctr">
                        <a:lnSpc>
                          <a:spcPts val="2863"/>
                        </a:lnSpc>
                      </a:pPr>
                      <a:r>
                        <a:rPr lang="en-US" sz="2045">
                          <a:solidFill>
                            <a:srgbClr val="000000"/>
                          </a:solidFill>
                          <a:latin typeface="Agrandir"/>
                          <a:ea typeface="Agrandir"/>
                          <a:cs typeface="Agrandir"/>
                          <a:sym typeface="Agrandir"/>
                        </a:rPr>
                        <a:t>Output: 6 label biner (jenis risiko)​</a:t>
                      </a:r>
                    </a:p>
                    <a:p>
                      <a:pPr algn="ctr">
                        <a:lnSpc>
                          <a:spcPts val="2863"/>
                        </a:lnSpc>
                      </a:pPr>
                      <a:r>
                        <a:rPr lang="en-US" sz="2045">
                          <a:solidFill>
                            <a:srgbClr val="000000"/>
                          </a:solidFill>
                          <a:latin typeface="Agrandir"/>
                          <a:ea typeface="Agrandir"/>
                          <a:cs typeface="Agrandir"/>
                          <a:sym typeface="Agrandir"/>
                        </a:rPr>
                        <a:t>Hamming Loss: 0.0387​</a:t>
                      </a:r>
                    </a:p>
                    <a:p>
                      <a:pPr algn="ctr">
                        <a:lnSpc>
                          <a:spcPts val="2863"/>
                        </a:lnSpc>
                      </a:pPr>
                      <a:r>
                        <a:rPr lang="en-US" sz="2045">
                          <a:solidFill>
                            <a:srgbClr val="000000"/>
                          </a:solidFill>
                          <a:latin typeface="Agrandir"/>
                          <a:ea typeface="Agrandir"/>
                          <a:cs typeface="Agrandir"/>
                          <a:sym typeface="Agrandir"/>
                        </a:rPr>
                        <a:t>Algoritma: MultiOutputClassifier (6 × RF)​</a:t>
                      </a:r>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grpSp>
        <p:nvGrpSpPr>
          <p:cNvPr name="Group 6" id="6"/>
          <p:cNvGrpSpPr/>
          <p:nvPr/>
        </p:nvGrpSpPr>
        <p:grpSpPr>
          <a:xfrm rot="0">
            <a:off x="4272296" y="2677911"/>
            <a:ext cx="4468407" cy="989754"/>
            <a:chOff x="0" y="0"/>
            <a:chExt cx="1097021" cy="242991"/>
          </a:xfrm>
        </p:grpSpPr>
        <p:sp>
          <p:nvSpPr>
            <p:cNvPr name="Freeform 7" id="7"/>
            <p:cNvSpPr/>
            <p:nvPr/>
          </p:nvSpPr>
          <p:spPr>
            <a:xfrm flipH="false" flipV="false" rot="0">
              <a:off x="0" y="0"/>
              <a:ext cx="1097021" cy="242991"/>
            </a:xfrm>
            <a:custGeom>
              <a:avLst/>
              <a:gdLst/>
              <a:ahLst/>
              <a:cxnLst/>
              <a:rect r="r" b="b" t="t" l="l"/>
              <a:pathLst>
                <a:path h="242991" w="1097021">
                  <a:moveTo>
                    <a:pt x="121495" y="0"/>
                  </a:moveTo>
                  <a:lnTo>
                    <a:pt x="975526" y="0"/>
                  </a:lnTo>
                  <a:cubicBezTo>
                    <a:pt x="1007748" y="0"/>
                    <a:pt x="1038651" y="12800"/>
                    <a:pt x="1061436" y="35585"/>
                  </a:cubicBezTo>
                  <a:cubicBezTo>
                    <a:pt x="1084221" y="58370"/>
                    <a:pt x="1097021" y="89273"/>
                    <a:pt x="1097021" y="121495"/>
                  </a:cubicBezTo>
                  <a:lnTo>
                    <a:pt x="1097021" y="121495"/>
                  </a:lnTo>
                  <a:cubicBezTo>
                    <a:pt x="1097021" y="153718"/>
                    <a:pt x="1084221" y="184621"/>
                    <a:pt x="1061436" y="207406"/>
                  </a:cubicBezTo>
                  <a:cubicBezTo>
                    <a:pt x="1038651" y="230190"/>
                    <a:pt x="1007748" y="242991"/>
                    <a:pt x="975526"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C2756">
                    <a:alpha val="100000"/>
                  </a:srgbClr>
                </a:gs>
                <a:gs pos="100000">
                  <a:srgbClr val="1E527D">
                    <a:alpha val="100000"/>
                  </a:srgbClr>
                </a:gs>
              </a:gsLst>
              <a:lin ang="0"/>
            </a:gradFill>
          </p:spPr>
        </p:sp>
        <p:sp>
          <p:nvSpPr>
            <p:cNvPr name="TextBox 8" id="8"/>
            <p:cNvSpPr txBox="true"/>
            <p:nvPr/>
          </p:nvSpPr>
          <p:spPr>
            <a:xfrm>
              <a:off x="0" y="-28575"/>
              <a:ext cx="1097021" cy="271566"/>
            </a:xfrm>
            <a:prstGeom prst="rect">
              <a:avLst/>
            </a:prstGeom>
          </p:spPr>
          <p:txBody>
            <a:bodyPr anchor="ctr" rtlCol="false" tIns="50800" lIns="50800" bIns="50800" rIns="50800"/>
            <a:lstStyle/>
            <a:p>
              <a:pPr algn="ctr">
                <a:lnSpc>
                  <a:spcPts val="2126"/>
                </a:lnSpc>
              </a:pPr>
            </a:p>
          </p:txBody>
        </p:sp>
      </p:grpSp>
      <p:sp>
        <p:nvSpPr>
          <p:cNvPr name="TextBox 9" id="9"/>
          <p:cNvSpPr txBox="true"/>
          <p:nvPr/>
        </p:nvSpPr>
        <p:spPr>
          <a:xfrm rot="0">
            <a:off x="7562930" y="426246"/>
            <a:ext cx="3355672" cy="896330"/>
          </a:xfrm>
          <a:prstGeom prst="rect">
            <a:avLst/>
          </a:prstGeom>
        </p:spPr>
        <p:txBody>
          <a:bodyPr anchor="t" rtlCol="false" tIns="0" lIns="0" bIns="0" rIns="0">
            <a:spAutoFit/>
          </a:bodyPr>
          <a:lstStyle/>
          <a:p>
            <a:pPr algn="l">
              <a:lnSpc>
                <a:spcPts val="6875"/>
              </a:lnSpc>
            </a:pPr>
            <a:r>
              <a:rPr lang="en-US" sz="6610">
                <a:solidFill>
                  <a:srgbClr val="FFFFFF"/>
                </a:solidFill>
                <a:latin typeface="Anton"/>
                <a:ea typeface="Anton"/>
                <a:cs typeface="Anton"/>
                <a:sym typeface="Anton"/>
              </a:rPr>
              <a:t>PIPE LINE</a:t>
            </a:r>
          </a:p>
        </p:txBody>
      </p:sp>
      <p:sp>
        <p:nvSpPr>
          <p:cNvPr name="TextBox 10" id="10"/>
          <p:cNvSpPr txBox="true"/>
          <p:nvPr/>
        </p:nvSpPr>
        <p:spPr>
          <a:xfrm rot="0">
            <a:off x="5717210" y="2862588"/>
            <a:ext cx="2709168" cy="487751"/>
          </a:xfrm>
          <a:prstGeom prst="rect">
            <a:avLst/>
          </a:prstGeom>
        </p:spPr>
        <p:txBody>
          <a:bodyPr anchor="t" rtlCol="false" tIns="0" lIns="0" bIns="0" rIns="0">
            <a:spAutoFit/>
          </a:bodyPr>
          <a:lstStyle/>
          <a:p>
            <a:pPr algn="l">
              <a:lnSpc>
                <a:spcPts val="3440"/>
              </a:lnSpc>
            </a:pPr>
            <a:r>
              <a:rPr lang="en-US" sz="2567">
                <a:solidFill>
                  <a:srgbClr val="FFFFFF"/>
                </a:solidFill>
                <a:latin typeface="Agrandir"/>
                <a:ea typeface="Agrandir"/>
                <a:cs typeface="Agrandir"/>
                <a:sym typeface="Agrandir"/>
              </a:rPr>
              <a:t>Data Collection</a:t>
            </a:r>
          </a:p>
        </p:txBody>
      </p:sp>
      <p:grpSp>
        <p:nvGrpSpPr>
          <p:cNvPr name="Group 11" id="11"/>
          <p:cNvGrpSpPr/>
          <p:nvPr/>
        </p:nvGrpSpPr>
        <p:grpSpPr>
          <a:xfrm rot="0">
            <a:off x="4281821" y="2677911"/>
            <a:ext cx="1081897" cy="989754"/>
            <a:chOff x="0" y="0"/>
            <a:chExt cx="265612" cy="242991"/>
          </a:xfrm>
        </p:grpSpPr>
        <p:sp>
          <p:nvSpPr>
            <p:cNvPr name="Freeform 12" id="12"/>
            <p:cNvSpPr/>
            <p:nvPr/>
          </p:nvSpPr>
          <p:spPr>
            <a:xfrm flipH="false" flipV="false" rot="0">
              <a:off x="0" y="0"/>
              <a:ext cx="265612" cy="242991"/>
            </a:xfrm>
            <a:custGeom>
              <a:avLst/>
              <a:gdLst/>
              <a:ahLst/>
              <a:cxnLst/>
              <a:rect r="r" b="b" t="t" l="l"/>
              <a:pathLst>
                <a:path h="242991" w="265612">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0B3FF">
                    <a:alpha val="100000"/>
                  </a:srgbClr>
                </a:gs>
                <a:gs pos="100000">
                  <a:srgbClr val="3A459B">
                    <a:alpha val="100000"/>
                  </a:srgbClr>
                </a:gs>
              </a:gsLst>
              <a:lin ang="0"/>
            </a:gradFill>
          </p:spPr>
        </p:sp>
        <p:sp>
          <p:nvSpPr>
            <p:cNvPr name="TextBox 13" id="13"/>
            <p:cNvSpPr txBox="true"/>
            <p:nvPr/>
          </p:nvSpPr>
          <p:spPr>
            <a:xfrm>
              <a:off x="0" y="-28575"/>
              <a:ext cx="265612" cy="271566"/>
            </a:xfrm>
            <a:prstGeom prst="rect">
              <a:avLst/>
            </a:prstGeom>
          </p:spPr>
          <p:txBody>
            <a:bodyPr anchor="ctr" rtlCol="false" tIns="50800" lIns="50800" bIns="50800" rIns="50800"/>
            <a:lstStyle/>
            <a:p>
              <a:pPr algn="ctr">
                <a:lnSpc>
                  <a:spcPts val="2126"/>
                </a:lnSpc>
              </a:pPr>
            </a:p>
          </p:txBody>
        </p:sp>
      </p:grpSp>
      <p:sp>
        <p:nvSpPr>
          <p:cNvPr name="TextBox 14" id="14"/>
          <p:cNvSpPr txBox="true"/>
          <p:nvPr/>
        </p:nvSpPr>
        <p:spPr>
          <a:xfrm rot="0">
            <a:off x="4566369" y="2853063"/>
            <a:ext cx="797349" cy="525150"/>
          </a:xfrm>
          <a:prstGeom prst="rect">
            <a:avLst/>
          </a:prstGeom>
        </p:spPr>
        <p:txBody>
          <a:bodyPr anchor="t" rtlCol="false" tIns="0" lIns="0" bIns="0" rIns="0">
            <a:spAutoFit/>
          </a:bodyPr>
          <a:lstStyle/>
          <a:p>
            <a:pPr algn="l">
              <a:lnSpc>
                <a:spcPts val="3690"/>
              </a:lnSpc>
            </a:pPr>
            <a:r>
              <a:rPr lang="en-US" sz="2754" b="true">
                <a:solidFill>
                  <a:srgbClr val="FFFFFF"/>
                </a:solidFill>
                <a:latin typeface="Agrandir Bold"/>
                <a:ea typeface="Agrandir Bold"/>
                <a:cs typeface="Agrandir Bold"/>
                <a:sym typeface="Agrandir Bold"/>
              </a:rPr>
              <a:t>01.</a:t>
            </a:r>
          </a:p>
        </p:txBody>
      </p:sp>
      <p:grpSp>
        <p:nvGrpSpPr>
          <p:cNvPr name="Group 15" id="15"/>
          <p:cNvGrpSpPr/>
          <p:nvPr/>
        </p:nvGrpSpPr>
        <p:grpSpPr>
          <a:xfrm rot="0">
            <a:off x="4281821" y="4138304"/>
            <a:ext cx="4458882" cy="989754"/>
            <a:chOff x="0" y="0"/>
            <a:chExt cx="1094683" cy="242991"/>
          </a:xfrm>
        </p:grpSpPr>
        <p:sp>
          <p:nvSpPr>
            <p:cNvPr name="Freeform 16" id="16"/>
            <p:cNvSpPr/>
            <p:nvPr/>
          </p:nvSpPr>
          <p:spPr>
            <a:xfrm flipH="false" flipV="false" rot="0">
              <a:off x="0" y="0"/>
              <a:ext cx="1094683" cy="242991"/>
            </a:xfrm>
            <a:custGeom>
              <a:avLst/>
              <a:gdLst/>
              <a:ahLst/>
              <a:cxnLst/>
              <a:rect r="r" b="b" t="t" l="l"/>
              <a:pathLst>
                <a:path h="242991" w="1094683">
                  <a:moveTo>
                    <a:pt x="121495" y="0"/>
                  </a:moveTo>
                  <a:lnTo>
                    <a:pt x="973187" y="0"/>
                  </a:lnTo>
                  <a:cubicBezTo>
                    <a:pt x="1005410" y="0"/>
                    <a:pt x="1036313" y="12800"/>
                    <a:pt x="1059098" y="35585"/>
                  </a:cubicBezTo>
                  <a:cubicBezTo>
                    <a:pt x="1081882" y="58370"/>
                    <a:pt x="1094683" y="89273"/>
                    <a:pt x="1094683" y="121495"/>
                  </a:cubicBezTo>
                  <a:lnTo>
                    <a:pt x="1094683" y="121495"/>
                  </a:lnTo>
                  <a:cubicBezTo>
                    <a:pt x="1094683" y="153718"/>
                    <a:pt x="1081882" y="184621"/>
                    <a:pt x="1059098" y="207406"/>
                  </a:cubicBezTo>
                  <a:cubicBezTo>
                    <a:pt x="1036313" y="230190"/>
                    <a:pt x="1005410" y="242991"/>
                    <a:pt x="97318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C2756">
                    <a:alpha val="100000"/>
                  </a:srgbClr>
                </a:gs>
                <a:gs pos="100000">
                  <a:srgbClr val="1E527D">
                    <a:alpha val="100000"/>
                  </a:srgbClr>
                </a:gs>
              </a:gsLst>
              <a:lin ang="0"/>
            </a:gradFill>
          </p:spPr>
        </p:sp>
        <p:sp>
          <p:nvSpPr>
            <p:cNvPr name="TextBox 17" id="17"/>
            <p:cNvSpPr txBox="true"/>
            <p:nvPr/>
          </p:nvSpPr>
          <p:spPr>
            <a:xfrm>
              <a:off x="0" y="-28575"/>
              <a:ext cx="1094683" cy="271566"/>
            </a:xfrm>
            <a:prstGeom prst="rect">
              <a:avLst/>
            </a:prstGeom>
          </p:spPr>
          <p:txBody>
            <a:bodyPr anchor="ctr" rtlCol="false" tIns="50800" lIns="50800" bIns="50800" rIns="50800"/>
            <a:lstStyle/>
            <a:p>
              <a:pPr algn="ctr">
                <a:lnSpc>
                  <a:spcPts val="2126"/>
                </a:lnSpc>
              </a:pPr>
            </a:p>
          </p:txBody>
        </p:sp>
      </p:grpSp>
      <p:sp>
        <p:nvSpPr>
          <p:cNvPr name="TextBox 18" id="18"/>
          <p:cNvSpPr txBox="true"/>
          <p:nvPr/>
        </p:nvSpPr>
        <p:spPr>
          <a:xfrm rot="0">
            <a:off x="5600953" y="4364534"/>
            <a:ext cx="2438339" cy="813142"/>
          </a:xfrm>
          <a:prstGeom prst="rect">
            <a:avLst/>
          </a:prstGeom>
        </p:spPr>
        <p:txBody>
          <a:bodyPr anchor="t" rtlCol="false" tIns="0" lIns="0" bIns="0" rIns="0">
            <a:spAutoFit/>
          </a:bodyPr>
          <a:lstStyle/>
          <a:p>
            <a:pPr algn="l">
              <a:lnSpc>
                <a:spcPts val="2978"/>
              </a:lnSpc>
            </a:pPr>
            <a:r>
              <a:rPr lang="en-US" sz="2567">
                <a:solidFill>
                  <a:srgbClr val="FFFFFF"/>
                </a:solidFill>
                <a:latin typeface="Agrandir"/>
                <a:ea typeface="Agrandir"/>
                <a:cs typeface="Agrandir"/>
                <a:sym typeface="Agrandir"/>
              </a:rPr>
              <a:t>Preprocessing</a:t>
            </a:r>
          </a:p>
          <a:p>
            <a:pPr algn="l">
              <a:lnSpc>
                <a:spcPts val="2978"/>
              </a:lnSpc>
            </a:pPr>
          </a:p>
        </p:txBody>
      </p:sp>
      <p:grpSp>
        <p:nvGrpSpPr>
          <p:cNvPr name="Group 19" id="19"/>
          <p:cNvGrpSpPr/>
          <p:nvPr/>
        </p:nvGrpSpPr>
        <p:grpSpPr>
          <a:xfrm rot="0">
            <a:off x="4281821" y="4138304"/>
            <a:ext cx="1081897" cy="989754"/>
            <a:chOff x="0" y="0"/>
            <a:chExt cx="265612" cy="242991"/>
          </a:xfrm>
        </p:grpSpPr>
        <p:sp>
          <p:nvSpPr>
            <p:cNvPr name="Freeform 20" id="20"/>
            <p:cNvSpPr/>
            <p:nvPr/>
          </p:nvSpPr>
          <p:spPr>
            <a:xfrm flipH="false" flipV="false" rot="0">
              <a:off x="0" y="0"/>
              <a:ext cx="265612" cy="242991"/>
            </a:xfrm>
            <a:custGeom>
              <a:avLst/>
              <a:gdLst/>
              <a:ahLst/>
              <a:cxnLst/>
              <a:rect r="r" b="b" t="t" l="l"/>
              <a:pathLst>
                <a:path h="242991" w="265612">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0B3FF">
                    <a:alpha val="100000"/>
                  </a:srgbClr>
                </a:gs>
                <a:gs pos="100000">
                  <a:srgbClr val="3A459B">
                    <a:alpha val="100000"/>
                  </a:srgbClr>
                </a:gs>
              </a:gsLst>
              <a:lin ang="0"/>
            </a:gradFill>
          </p:spPr>
        </p:sp>
        <p:sp>
          <p:nvSpPr>
            <p:cNvPr name="TextBox 21" id="21"/>
            <p:cNvSpPr txBox="true"/>
            <p:nvPr/>
          </p:nvSpPr>
          <p:spPr>
            <a:xfrm>
              <a:off x="0" y="-28575"/>
              <a:ext cx="265612" cy="271566"/>
            </a:xfrm>
            <a:prstGeom prst="rect">
              <a:avLst/>
            </a:prstGeom>
          </p:spPr>
          <p:txBody>
            <a:bodyPr anchor="ctr" rtlCol="false" tIns="50800" lIns="50800" bIns="50800" rIns="50800"/>
            <a:lstStyle/>
            <a:p>
              <a:pPr algn="ctr">
                <a:lnSpc>
                  <a:spcPts val="2126"/>
                </a:lnSpc>
              </a:pPr>
            </a:p>
          </p:txBody>
        </p:sp>
      </p:grpSp>
      <p:sp>
        <p:nvSpPr>
          <p:cNvPr name="TextBox 22" id="22"/>
          <p:cNvSpPr txBox="true"/>
          <p:nvPr/>
        </p:nvSpPr>
        <p:spPr>
          <a:xfrm rot="0">
            <a:off x="4566369" y="4313456"/>
            <a:ext cx="797349" cy="525150"/>
          </a:xfrm>
          <a:prstGeom prst="rect">
            <a:avLst/>
          </a:prstGeom>
        </p:spPr>
        <p:txBody>
          <a:bodyPr anchor="t" rtlCol="false" tIns="0" lIns="0" bIns="0" rIns="0">
            <a:spAutoFit/>
          </a:bodyPr>
          <a:lstStyle/>
          <a:p>
            <a:pPr algn="l">
              <a:lnSpc>
                <a:spcPts val="3690"/>
              </a:lnSpc>
            </a:pPr>
            <a:r>
              <a:rPr lang="en-US" sz="2754" b="true">
                <a:solidFill>
                  <a:srgbClr val="FFFFFF"/>
                </a:solidFill>
                <a:latin typeface="Agrandir Bold"/>
                <a:ea typeface="Agrandir Bold"/>
                <a:cs typeface="Agrandir Bold"/>
                <a:sym typeface="Agrandir Bold"/>
              </a:rPr>
              <a:t>02.</a:t>
            </a:r>
          </a:p>
        </p:txBody>
      </p:sp>
      <p:grpSp>
        <p:nvGrpSpPr>
          <p:cNvPr name="Group 23" id="23"/>
          <p:cNvGrpSpPr/>
          <p:nvPr/>
        </p:nvGrpSpPr>
        <p:grpSpPr>
          <a:xfrm rot="0">
            <a:off x="4281821" y="5598697"/>
            <a:ext cx="4458882" cy="989754"/>
            <a:chOff x="0" y="0"/>
            <a:chExt cx="1094683" cy="242991"/>
          </a:xfrm>
        </p:grpSpPr>
        <p:sp>
          <p:nvSpPr>
            <p:cNvPr name="Freeform 24" id="24"/>
            <p:cNvSpPr/>
            <p:nvPr/>
          </p:nvSpPr>
          <p:spPr>
            <a:xfrm flipH="false" flipV="false" rot="0">
              <a:off x="0" y="0"/>
              <a:ext cx="1094683" cy="242991"/>
            </a:xfrm>
            <a:custGeom>
              <a:avLst/>
              <a:gdLst/>
              <a:ahLst/>
              <a:cxnLst/>
              <a:rect r="r" b="b" t="t" l="l"/>
              <a:pathLst>
                <a:path h="242991" w="1094683">
                  <a:moveTo>
                    <a:pt x="121495" y="0"/>
                  </a:moveTo>
                  <a:lnTo>
                    <a:pt x="973187" y="0"/>
                  </a:lnTo>
                  <a:cubicBezTo>
                    <a:pt x="1005410" y="0"/>
                    <a:pt x="1036313" y="12800"/>
                    <a:pt x="1059098" y="35585"/>
                  </a:cubicBezTo>
                  <a:cubicBezTo>
                    <a:pt x="1081882" y="58370"/>
                    <a:pt x="1094683" y="89273"/>
                    <a:pt x="1094683" y="121495"/>
                  </a:cubicBezTo>
                  <a:lnTo>
                    <a:pt x="1094683" y="121495"/>
                  </a:lnTo>
                  <a:cubicBezTo>
                    <a:pt x="1094683" y="153718"/>
                    <a:pt x="1081882" y="184621"/>
                    <a:pt x="1059098" y="207406"/>
                  </a:cubicBezTo>
                  <a:cubicBezTo>
                    <a:pt x="1036313" y="230190"/>
                    <a:pt x="1005410" y="242991"/>
                    <a:pt x="97318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C2756">
                    <a:alpha val="100000"/>
                  </a:srgbClr>
                </a:gs>
                <a:gs pos="100000">
                  <a:srgbClr val="1E527D">
                    <a:alpha val="100000"/>
                  </a:srgbClr>
                </a:gs>
              </a:gsLst>
              <a:lin ang="0"/>
            </a:gradFill>
          </p:spPr>
        </p:sp>
        <p:sp>
          <p:nvSpPr>
            <p:cNvPr name="TextBox 25" id="25"/>
            <p:cNvSpPr txBox="true"/>
            <p:nvPr/>
          </p:nvSpPr>
          <p:spPr>
            <a:xfrm>
              <a:off x="0" y="-28575"/>
              <a:ext cx="1094683" cy="271566"/>
            </a:xfrm>
            <a:prstGeom prst="rect">
              <a:avLst/>
            </a:prstGeom>
          </p:spPr>
          <p:txBody>
            <a:bodyPr anchor="ctr" rtlCol="false" tIns="50800" lIns="50800" bIns="50800" rIns="50800"/>
            <a:lstStyle/>
            <a:p>
              <a:pPr algn="ctr">
                <a:lnSpc>
                  <a:spcPts val="2126"/>
                </a:lnSpc>
              </a:pPr>
            </a:p>
          </p:txBody>
        </p:sp>
      </p:grpSp>
      <p:sp>
        <p:nvSpPr>
          <p:cNvPr name="TextBox 26" id="26"/>
          <p:cNvSpPr txBox="true"/>
          <p:nvPr/>
        </p:nvSpPr>
        <p:spPr>
          <a:xfrm rot="0">
            <a:off x="5429948" y="5844165"/>
            <a:ext cx="3092126" cy="441667"/>
          </a:xfrm>
          <a:prstGeom prst="rect">
            <a:avLst/>
          </a:prstGeom>
        </p:spPr>
        <p:txBody>
          <a:bodyPr anchor="t" rtlCol="false" tIns="0" lIns="0" bIns="0" rIns="0">
            <a:spAutoFit/>
          </a:bodyPr>
          <a:lstStyle/>
          <a:p>
            <a:pPr algn="l">
              <a:lnSpc>
                <a:spcPts val="2978"/>
              </a:lnSpc>
            </a:pPr>
            <a:r>
              <a:rPr lang="en-US" sz="2567">
                <a:solidFill>
                  <a:srgbClr val="FFFFFF"/>
                </a:solidFill>
                <a:latin typeface="Agrandir"/>
                <a:ea typeface="Agrandir"/>
                <a:cs typeface="Agrandir"/>
                <a:sym typeface="Agrandir"/>
              </a:rPr>
              <a:t>Transformasi</a:t>
            </a:r>
          </a:p>
        </p:txBody>
      </p:sp>
      <p:grpSp>
        <p:nvGrpSpPr>
          <p:cNvPr name="Group 27" id="27"/>
          <p:cNvGrpSpPr/>
          <p:nvPr/>
        </p:nvGrpSpPr>
        <p:grpSpPr>
          <a:xfrm rot="0">
            <a:off x="4281821" y="5598697"/>
            <a:ext cx="1081897" cy="989754"/>
            <a:chOff x="0" y="0"/>
            <a:chExt cx="265612" cy="242991"/>
          </a:xfrm>
        </p:grpSpPr>
        <p:sp>
          <p:nvSpPr>
            <p:cNvPr name="Freeform 28" id="28"/>
            <p:cNvSpPr/>
            <p:nvPr/>
          </p:nvSpPr>
          <p:spPr>
            <a:xfrm flipH="false" flipV="false" rot="0">
              <a:off x="0" y="0"/>
              <a:ext cx="265612" cy="242991"/>
            </a:xfrm>
            <a:custGeom>
              <a:avLst/>
              <a:gdLst/>
              <a:ahLst/>
              <a:cxnLst/>
              <a:rect r="r" b="b" t="t" l="l"/>
              <a:pathLst>
                <a:path h="242991" w="265612">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0B3FF">
                    <a:alpha val="100000"/>
                  </a:srgbClr>
                </a:gs>
                <a:gs pos="100000">
                  <a:srgbClr val="3A459B">
                    <a:alpha val="100000"/>
                  </a:srgbClr>
                </a:gs>
              </a:gsLst>
              <a:lin ang="0"/>
            </a:gradFill>
          </p:spPr>
        </p:sp>
        <p:sp>
          <p:nvSpPr>
            <p:cNvPr name="TextBox 29" id="29"/>
            <p:cNvSpPr txBox="true"/>
            <p:nvPr/>
          </p:nvSpPr>
          <p:spPr>
            <a:xfrm>
              <a:off x="0" y="-28575"/>
              <a:ext cx="265612" cy="271566"/>
            </a:xfrm>
            <a:prstGeom prst="rect">
              <a:avLst/>
            </a:prstGeom>
          </p:spPr>
          <p:txBody>
            <a:bodyPr anchor="ctr" rtlCol="false" tIns="50800" lIns="50800" bIns="50800" rIns="50800"/>
            <a:lstStyle/>
            <a:p>
              <a:pPr algn="ctr">
                <a:lnSpc>
                  <a:spcPts val="2126"/>
                </a:lnSpc>
              </a:pPr>
            </a:p>
          </p:txBody>
        </p:sp>
      </p:grpSp>
      <p:sp>
        <p:nvSpPr>
          <p:cNvPr name="TextBox 30" id="30"/>
          <p:cNvSpPr txBox="true"/>
          <p:nvPr/>
        </p:nvSpPr>
        <p:spPr>
          <a:xfrm rot="0">
            <a:off x="4566369" y="5773849"/>
            <a:ext cx="797349" cy="525150"/>
          </a:xfrm>
          <a:prstGeom prst="rect">
            <a:avLst/>
          </a:prstGeom>
        </p:spPr>
        <p:txBody>
          <a:bodyPr anchor="t" rtlCol="false" tIns="0" lIns="0" bIns="0" rIns="0">
            <a:spAutoFit/>
          </a:bodyPr>
          <a:lstStyle/>
          <a:p>
            <a:pPr algn="l">
              <a:lnSpc>
                <a:spcPts val="3690"/>
              </a:lnSpc>
            </a:pPr>
            <a:r>
              <a:rPr lang="en-US" sz="2754" b="true">
                <a:solidFill>
                  <a:srgbClr val="FFFFFF"/>
                </a:solidFill>
                <a:latin typeface="Agrandir Bold"/>
                <a:ea typeface="Agrandir Bold"/>
                <a:cs typeface="Agrandir Bold"/>
                <a:sym typeface="Agrandir Bold"/>
              </a:rPr>
              <a:t>03.</a:t>
            </a:r>
          </a:p>
        </p:txBody>
      </p:sp>
      <p:grpSp>
        <p:nvGrpSpPr>
          <p:cNvPr name="Group 31" id="31"/>
          <p:cNvGrpSpPr/>
          <p:nvPr/>
        </p:nvGrpSpPr>
        <p:grpSpPr>
          <a:xfrm rot="0">
            <a:off x="4281821" y="7059090"/>
            <a:ext cx="4458882" cy="989754"/>
            <a:chOff x="0" y="0"/>
            <a:chExt cx="1094683" cy="242991"/>
          </a:xfrm>
        </p:grpSpPr>
        <p:sp>
          <p:nvSpPr>
            <p:cNvPr name="Freeform 32" id="32"/>
            <p:cNvSpPr/>
            <p:nvPr/>
          </p:nvSpPr>
          <p:spPr>
            <a:xfrm flipH="false" flipV="false" rot="0">
              <a:off x="0" y="0"/>
              <a:ext cx="1094683" cy="242991"/>
            </a:xfrm>
            <a:custGeom>
              <a:avLst/>
              <a:gdLst/>
              <a:ahLst/>
              <a:cxnLst/>
              <a:rect r="r" b="b" t="t" l="l"/>
              <a:pathLst>
                <a:path h="242991" w="1094683">
                  <a:moveTo>
                    <a:pt x="121495" y="0"/>
                  </a:moveTo>
                  <a:lnTo>
                    <a:pt x="973187" y="0"/>
                  </a:lnTo>
                  <a:cubicBezTo>
                    <a:pt x="1005410" y="0"/>
                    <a:pt x="1036313" y="12800"/>
                    <a:pt x="1059098" y="35585"/>
                  </a:cubicBezTo>
                  <a:cubicBezTo>
                    <a:pt x="1081882" y="58370"/>
                    <a:pt x="1094683" y="89273"/>
                    <a:pt x="1094683" y="121495"/>
                  </a:cubicBezTo>
                  <a:lnTo>
                    <a:pt x="1094683" y="121495"/>
                  </a:lnTo>
                  <a:cubicBezTo>
                    <a:pt x="1094683" y="153718"/>
                    <a:pt x="1081882" y="184621"/>
                    <a:pt x="1059098" y="207406"/>
                  </a:cubicBezTo>
                  <a:cubicBezTo>
                    <a:pt x="1036313" y="230190"/>
                    <a:pt x="1005410" y="242991"/>
                    <a:pt x="97318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C2756">
                    <a:alpha val="100000"/>
                  </a:srgbClr>
                </a:gs>
                <a:gs pos="100000">
                  <a:srgbClr val="1E527D">
                    <a:alpha val="100000"/>
                  </a:srgbClr>
                </a:gs>
              </a:gsLst>
              <a:lin ang="0"/>
            </a:gradFill>
          </p:spPr>
        </p:sp>
        <p:sp>
          <p:nvSpPr>
            <p:cNvPr name="TextBox 33" id="33"/>
            <p:cNvSpPr txBox="true"/>
            <p:nvPr/>
          </p:nvSpPr>
          <p:spPr>
            <a:xfrm>
              <a:off x="0" y="-28575"/>
              <a:ext cx="1094683" cy="271566"/>
            </a:xfrm>
            <a:prstGeom prst="rect">
              <a:avLst/>
            </a:prstGeom>
          </p:spPr>
          <p:txBody>
            <a:bodyPr anchor="ctr" rtlCol="false" tIns="50800" lIns="50800" bIns="50800" rIns="50800"/>
            <a:lstStyle/>
            <a:p>
              <a:pPr algn="ctr">
                <a:lnSpc>
                  <a:spcPts val="2126"/>
                </a:lnSpc>
              </a:pPr>
            </a:p>
          </p:txBody>
        </p:sp>
      </p:grpSp>
      <p:sp>
        <p:nvSpPr>
          <p:cNvPr name="TextBox 34" id="34"/>
          <p:cNvSpPr txBox="true"/>
          <p:nvPr/>
        </p:nvSpPr>
        <p:spPr>
          <a:xfrm rot="0">
            <a:off x="5717210" y="7168007"/>
            <a:ext cx="2804864" cy="747495"/>
          </a:xfrm>
          <a:prstGeom prst="rect">
            <a:avLst/>
          </a:prstGeom>
        </p:spPr>
        <p:txBody>
          <a:bodyPr anchor="t" rtlCol="false" tIns="0" lIns="0" bIns="0" rIns="0">
            <a:spAutoFit/>
          </a:bodyPr>
          <a:lstStyle/>
          <a:p>
            <a:pPr algn="l">
              <a:lnSpc>
                <a:spcPts val="2670"/>
              </a:lnSpc>
            </a:pPr>
            <a:r>
              <a:rPr lang="en-US" sz="2567">
                <a:solidFill>
                  <a:srgbClr val="FFFFFF"/>
                </a:solidFill>
                <a:latin typeface="Agrandir"/>
                <a:ea typeface="Agrandir"/>
                <a:cs typeface="Agrandir"/>
                <a:sym typeface="Agrandir"/>
              </a:rPr>
              <a:t>Pemodelan Machine Learning</a:t>
            </a:r>
          </a:p>
        </p:txBody>
      </p:sp>
      <p:grpSp>
        <p:nvGrpSpPr>
          <p:cNvPr name="Group 35" id="35"/>
          <p:cNvGrpSpPr/>
          <p:nvPr/>
        </p:nvGrpSpPr>
        <p:grpSpPr>
          <a:xfrm rot="0">
            <a:off x="4281821" y="7059090"/>
            <a:ext cx="1081897" cy="989754"/>
            <a:chOff x="0" y="0"/>
            <a:chExt cx="265612" cy="242991"/>
          </a:xfrm>
        </p:grpSpPr>
        <p:sp>
          <p:nvSpPr>
            <p:cNvPr name="Freeform 36" id="36"/>
            <p:cNvSpPr/>
            <p:nvPr/>
          </p:nvSpPr>
          <p:spPr>
            <a:xfrm flipH="false" flipV="false" rot="0">
              <a:off x="0" y="0"/>
              <a:ext cx="265612" cy="242991"/>
            </a:xfrm>
            <a:custGeom>
              <a:avLst/>
              <a:gdLst/>
              <a:ahLst/>
              <a:cxnLst/>
              <a:rect r="r" b="b" t="t" l="l"/>
              <a:pathLst>
                <a:path h="242991" w="265612">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0B3FF">
                    <a:alpha val="100000"/>
                  </a:srgbClr>
                </a:gs>
                <a:gs pos="100000">
                  <a:srgbClr val="3A459B">
                    <a:alpha val="100000"/>
                  </a:srgbClr>
                </a:gs>
              </a:gsLst>
              <a:lin ang="0"/>
            </a:gradFill>
          </p:spPr>
        </p:sp>
        <p:sp>
          <p:nvSpPr>
            <p:cNvPr name="TextBox 37" id="37"/>
            <p:cNvSpPr txBox="true"/>
            <p:nvPr/>
          </p:nvSpPr>
          <p:spPr>
            <a:xfrm>
              <a:off x="0" y="-28575"/>
              <a:ext cx="265612" cy="271566"/>
            </a:xfrm>
            <a:prstGeom prst="rect">
              <a:avLst/>
            </a:prstGeom>
          </p:spPr>
          <p:txBody>
            <a:bodyPr anchor="ctr" rtlCol="false" tIns="50800" lIns="50800" bIns="50800" rIns="50800"/>
            <a:lstStyle/>
            <a:p>
              <a:pPr algn="ctr">
                <a:lnSpc>
                  <a:spcPts val="2126"/>
                </a:lnSpc>
              </a:pPr>
            </a:p>
          </p:txBody>
        </p:sp>
      </p:grpSp>
      <p:sp>
        <p:nvSpPr>
          <p:cNvPr name="TextBox 38" id="38"/>
          <p:cNvSpPr txBox="true"/>
          <p:nvPr/>
        </p:nvSpPr>
        <p:spPr>
          <a:xfrm rot="0">
            <a:off x="4566369" y="7234242"/>
            <a:ext cx="797349" cy="525150"/>
          </a:xfrm>
          <a:prstGeom prst="rect">
            <a:avLst/>
          </a:prstGeom>
        </p:spPr>
        <p:txBody>
          <a:bodyPr anchor="t" rtlCol="false" tIns="0" lIns="0" bIns="0" rIns="0">
            <a:spAutoFit/>
          </a:bodyPr>
          <a:lstStyle/>
          <a:p>
            <a:pPr algn="l">
              <a:lnSpc>
                <a:spcPts val="3690"/>
              </a:lnSpc>
            </a:pPr>
            <a:r>
              <a:rPr lang="en-US" sz="2754" b="true">
                <a:solidFill>
                  <a:srgbClr val="FFFFFF"/>
                </a:solidFill>
                <a:latin typeface="Agrandir Bold"/>
                <a:ea typeface="Agrandir Bold"/>
                <a:cs typeface="Agrandir Bold"/>
                <a:sym typeface="Agrandir Bold"/>
              </a:rPr>
              <a:t>04.</a:t>
            </a:r>
          </a:p>
        </p:txBody>
      </p:sp>
      <p:grpSp>
        <p:nvGrpSpPr>
          <p:cNvPr name="Group 39" id="39"/>
          <p:cNvGrpSpPr/>
          <p:nvPr/>
        </p:nvGrpSpPr>
        <p:grpSpPr>
          <a:xfrm rot="0">
            <a:off x="9740828" y="2677911"/>
            <a:ext cx="4468407" cy="989754"/>
            <a:chOff x="0" y="0"/>
            <a:chExt cx="1097021" cy="242991"/>
          </a:xfrm>
        </p:grpSpPr>
        <p:sp>
          <p:nvSpPr>
            <p:cNvPr name="Freeform 40" id="40"/>
            <p:cNvSpPr/>
            <p:nvPr/>
          </p:nvSpPr>
          <p:spPr>
            <a:xfrm flipH="false" flipV="false" rot="0">
              <a:off x="0" y="0"/>
              <a:ext cx="1097021" cy="242991"/>
            </a:xfrm>
            <a:custGeom>
              <a:avLst/>
              <a:gdLst/>
              <a:ahLst/>
              <a:cxnLst/>
              <a:rect r="r" b="b" t="t" l="l"/>
              <a:pathLst>
                <a:path h="242991" w="1097021">
                  <a:moveTo>
                    <a:pt x="121495" y="0"/>
                  </a:moveTo>
                  <a:lnTo>
                    <a:pt x="975526" y="0"/>
                  </a:lnTo>
                  <a:cubicBezTo>
                    <a:pt x="1007748" y="0"/>
                    <a:pt x="1038651" y="12800"/>
                    <a:pt x="1061436" y="35585"/>
                  </a:cubicBezTo>
                  <a:cubicBezTo>
                    <a:pt x="1084221" y="58370"/>
                    <a:pt x="1097021" y="89273"/>
                    <a:pt x="1097021" y="121495"/>
                  </a:cubicBezTo>
                  <a:lnTo>
                    <a:pt x="1097021" y="121495"/>
                  </a:lnTo>
                  <a:cubicBezTo>
                    <a:pt x="1097021" y="153718"/>
                    <a:pt x="1084221" y="184621"/>
                    <a:pt x="1061436" y="207406"/>
                  </a:cubicBezTo>
                  <a:cubicBezTo>
                    <a:pt x="1038651" y="230190"/>
                    <a:pt x="1007748" y="242991"/>
                    <a:pt x="975526"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C2756">
                    <a:alpha val="100000"/>
                  </a:srgbClr>
                </a:gs>
                <a:gs pos="100000">
                  <a:srgbClr val="1E527D">
                    <a:alpha val="100000"/>
                  </a:srgbClr>
                </a:gs>
              </a:gsLst>
              <a:lin ang="0"/>
            </a:gradFill>
          </p:spPr>
        </p:sp>
        <p:sp>
          <p:nvSpPr>
            <p:cNvPr name="TextBox 41" id="41"/>
            <p:cNvSpPr txBox="true"/>
            <p:nvPr/>
          </p:nvSpPr>
          <p:spPr>
            <a:xfrm>
              <a:off x="0" y="-28575"/>
              <a:ext cx="1097021" cy="271566"/>
            </a:xfrm>
            <a:prstGeom prst="rect">
              <a:avLst/>
            </a:prstGeom>
          </p:spPr>
          <p:txBody>
            <a:bodyPr anchor="ctr" rtlCol="false" tIns="50800" lIns="50800" bIns="50800" rIns="50800"/>
            <a:lstStyle/>
            <a:p>
              <a:pPr algn="ctr">
                <a:lnSpc>
                  <a:spcPts val="2126"/>
                </a:lnSpc>
              </a:pPr>
            </a:p>
          </p:txBody>
        </p:sp>
      </p:grpSp>
      <p:sp>
        <p:nvSpPr>
          <p:cNvPr name="TextBox 42" id="42"/>
          <p:cNvSpPr txBox="true"/>
          <p:nvPr/>
        </p:nvSpPr>
        <p:spPr>
          <a:xfrm rot="0">
            <a:off x="11126159" y="2688527"/>
            <a:ext cx="2636768" cy="916376"/>
          </a:xfrm>
          <a:prstGeom prst="rect">
            <a:avLst/>
          </a:prstGeom>
        </p:spPr>
        <p:txBody>
          <a:bodyPr anchor="t" rtlCol="false" tIns="0" lIns="0" bIns="0" rIns="0">
            <a:spAutoFit/>
          </a:bodyPr>
          <a:lstStyle/>
          <a:p>
            <a:pPr algn="l">
              <a:lnSpc>
                <a:spcPts val="3440"/>
              </a:lnSpc>
            </a:pPr>
            <a:r>
              <a:rPr lang="en-US" sz="2567">
                <a:solidFill>
                  <a:srgbClr val="FFFFFF"/>
                </a:solidFill>
                <a:latin typeface="Agrandir"/>
                <a:ea typeface="Agrandir"/>
                <a:cs typeface="Agrandir"/>
                <a:sym typeface="Agrandir"/>
              </a:rPr>
              <a:t>Hyperparameter Tuning</a:t>
            </a:r>
          </a:p>
        </p:txBody>
      </p:sp>
      <p:grpSp>
        <p:nvGrpSpPr>
          <p:cNvPr name="Group 43" id="43"/>
          <p:cNvGrpSpPr/>
          <p:nvPr/>
        </p:nvGrpSpPr>
        <p:grpSpPr>
          <a:xfrm rot="0">
            <a:off x="9750353" y="2677911"/>
            <a:ext cx="1081897" cy="989754"/>
            <a:chOff x="0" y="0"/>
            <a:chExt cx="265612" cy="242991"/>
          </a:xfrm>
        </p:grpSpPr>
        <p:sp>
          <p:nvSpPr>
            <p:cNvPr name="Freeform 44" id="44"/>
            <p:cNvSpPr/>
            <p:nvPr/>
          </p:nvSpPr>
          <p:spPr>
            <a:xfrm flipH="false" flipV="false" rot="0">
              <a:off x="0" y="0"/>
              <a:ext cx="265612" cy="242991"/>
            </a:xfrm>
            <a:custGeom>
              <a:avLst/>
              <a:gdLst/>
              <a:ahLst/>
              <a:cxnLst/>
              <a:rect r="r" b="b" t="t" l="l"/>
              <a:pathLst>
                <a:path h="242991" w="265612">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0B3FF">
                    <a:alpha val="100000"/>
                  </a:srgbClr>
                </a:gs>
                <a:gs pos="100000">
                  <a:srgbClr val="3A459B">
                    <a:alpha val="100000"/>
                  </a:srgbClr>
                </a:gs>
              </a:gsLst>
              <a:lin ang="0"/>
            </a:gradFill>
          </p:spPr>
        </p:sp>
        <p:sp>
          <p:nvSpPr>
            <p:cNvPr name="TextBox 45" id="45"/>
            <p:cNvSpPr txBox="true"/>
            <p:nvPr/>
          </p:nvSpPr>
          <p:spPr>
            <a:xfrm>
              <a:off x="0" y="-28575"/>
              <a:ext cx="265612" cy="271566"/>
            </a:xfrm>
            <a:prstGeom prst="rect">
              <a:avLst/>
            </a:prstGeom>
          </p:spPr>
          <p:txBody>
            <a:bodyPr anchor="ctr" rtlCol="false" tIns="50800" lIns="50800" bIns="50800" rIns="50800"/>
            <a:lstStyle/>
            <a:p>
              <a:pPr algn="ctr">
                <a:lnSpc>
                  <a:spcPts val="2126"/>
                </a:lnSpc>
              </a:pPr>
            </a:p>
          </p:txBody>
        </p:sp>
      </p:grpSp>
      <p:sp>
        <p:nvSpPr>
          <p:cNvPr name="TextBox 46" id="46"/>
          <p:cNvSpPr txBox="true"/>
          <p:nvPr/>
        </p:nvSpPr>
        <p:spPr>
          <a:xfrm rot="0">
            <a:off x="10034901" y="2853063"/>
            <a:ext cx="797349" cy="525150"/>
          </a:xfrm>
          <a:prstGeom prst="rect">
            <a:avLst/>
          </a:prstGeom>
        </p:spPr>
        <p:txBody>
          <a:bodyPr anchor="t" rtlCol="false" tIns="0" lIns="0" bIns="0" rIns="0">
            <a:spAutoFit/>
          </a:bodyPr>
          <a:lstStyle/>
          <a:p>
            <a:pPr algn="l">
              <a:lnSpc>
                <a:spcPts val="3690"/>
              </a:lnSpc>
            </a:pPr>
            <a:r>
              <a:rPr lang="en-US" sz="2754" b="true">
                <a:solidFill>
                  <a:srgbClr val="FFFFFF"/>
                </a:solidFill>
                <a:latin typeface="Agrandir Bold"/>
                <a:ea typeface="Agrandir Bold"/>
                <a:cs typeface="Agrandir Bold"/>
                <a:sym typeface="Agrandir Bold"/>
              </a:rPr>
              <a:t>05.</a:t>
            </a:r>
          </a:p>
        </p:txBody>
      </p:sp>
      <p:grpSp>
        <p:nvGrpSpPr>
          <p:cNvPr name="Group 47" id="47"/>
          <p:cNvGrpSpPr/>
          <p:nvPr/>
        </p:nvGrpSpPr>
        <p:grpSpPr>
          <a:xfrm rot="0">
            <a:off x="9750353" y="4138304"/>
            <a:ext cx="4458882" cy="989754"/>
            <a:chOff x="0" y="0"/>
            <a:chExt cx="1094683" cy="242991"/>
          </a:xfrm>
        </p:grpSpPr>
        <p:sp>
          <p:nvSpPr>
            <p:cNvPr name="Freeform 48" id="48"/>
            <p:cNvSpPr/>
            <p:nvPr/>
          </p:nvSpPr>
          <p:spPr>
            <a:xfrm flipH="false" flipV="false" rot="0">
              <a:off x="0" y="0"/>
              <a:ext cx="1094683" cy="242991"/>
            </a:xfrm>
            <a:custGeom>
              <a:avLst/>
              <a:gdLst/>
              <a:ahLst/>
              <a:cxnLst/>
              <a:rect r="r" b="b" t="t" l="l"/>
              <a:pathLst>
                <a:path h="242991" w="1094683">
                  <a:moveTo>
                    <a:pt x="121495" y="0"/>
                  </a:moveTo>
                  <a:lnTo>
                    <a:pt x="973187" y="0"/>
                  </a:lnTo>
                  <a:cubicBezTo>
                    <a:pt x="1005410" y="0"/>
                    <a:pt x="1036313" y="12800"/>
                    <a:pt x="1059098" y="35585"/>
                  </a:cubicBezTo>
                  <a:cubicBezTo>
                    <a:pt x="1081882" y="58370"/>
                    <a:pt x="1094683" y="89273"/>
                    <a:pt x="1094683" y="121495"/>
                  </a:cubicBezTo>
                  <a:lnTo>
                    <a:pt x="1094683" y="121495"/>
                  </a:lnTo>
                  <a:cubicBezTo>
                    <a:pt x="1094683" y="153718"/>
                    <a:pt x="1081882" y="184621"/>
                    <a:pt x="1059098" y="207406"/>
                  </a:cubicBezTo>
                  <a:cubicBezTo>
                    <a:pt x="1036313" y="230190"/>
                    <a:pt x="1005410" y="242991"/>
                    <a:pt x="97318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C2756">
                    <a:alpha val="100000"/>
                  </a:srgbClr>
                </a:gs>
                <a:gs pos="100000">
                  <a:srgbClr val="1E527D">
                    <a:alpha val="100000"/>
                  </a:srgbClr>
                </a:gs>
              </a:gsLst>
              <a:lin ang="0"/>
            </a:gradFill>
          </p:spPr>
        </p:sp>
        <p:sp>
          <p:nvSpPr>
            <p:cNvPr name="TextBox 49" id="49"/>
            <p:cNvSpPr txBox="true"/>
            <p:nvPr/>
          </p:nvSpPr>
          <p:spPr>
            <a:xfrm>
              <a:off x="0" y="-28575"/>
              <a:ext cx="1094683" cy="271566"/>
            </a:xfrm>
            <a:prstGeom prst="rect">
              <a:avLst/>
            </a:prstGeom>
          </p:spPr>
          <p:txBody>
            <a:bodyPr anchor="ctr" rtlCol="false" tIns="50800" lIns="50800" bIns="50800" rIns="50800"/>
            <a:lstStyle/>
            <a:p>
              <a:pPr algn="ctr">
                <a:lnSpc>
                  <a:spcPts val="2126"/>
                </a:lnSpc>
              </a:pPr>
            </a:p>
          </p:txBody>
        </p:sp>
      </p:grpSp>
      <p:sp>
        <p:nvSpPr>
          <p:cNvPr name="TextBox 50" id="50"/>
          <p:cNvSpPr txBox="true"/>
          <p:nvPr/>
        </p:nvSpPr>
        <p:spPr>
          <a:xfrm rot="0">
            <a:off x="11069485" y="4271204"/>
            <a:ext cx="2921121" cy="441667"/>
          </a:xfrm>
          <a:prstGeom prst="rect">
            <a:avLst/>
          </a:prstGeom>
        </p:spPr>
        <p:txBody>
          <a:bodyPr anchor="t" rtlCol="false" tIns="0" lIns="0" bIns="0" rIns="0">
            <a:spAutoFit/>
          </a:bodyPr>
          <a:lstStyle/>
          <a:p>
            <a:pPr algn="l">
              <a:lnSpc>
                <a:spcPts val="2978"/>
              </a:lnSpc>
            </a:pPr>
            <a:r>
              <a:rPr lang="en-US" sz="2567">
                <a:solidFill>
                  <a:srgbClr val="FFFFFF"/>
                </a:solidFill>
                <a:latin typeface="Agrandir"/>
                <a:ea typeface="Agrandir"/>
                <a:cs typeface="Agrandir"/>
                <a:sym typeface="Agrandir"/>
              </a:rPr>
              <a:t>Evaluasi Model</a:t>
            </a:r>
          </a:p>
        </p:txBody>
      </p:sp>
      <p:grpSp>
        <p:nvGrpSpPr>
          <p:cNvPr name="Group 51" id="51"/>
          <p:cNvGrpSpPr/>
          <p:nvPr/>
        </p:nvGrpSpPr>
        <p:grpSpPr>
          <a:xfrm rot="0">
            <a:off x="9750353" y="4138304"/>
            <a:ext cx="1081897" cy="989754"/>
            <a:chOff x="0" y="0"/>
            <a:chExt cx="265612" cy="242991"/>
          </a:xfrm>
        </p:grpSpPr>
        <p:sp>
          <p:nvSpPr>
            <p:cNvPr name="Freeform 52" id="52"/>
            <p:cNvSpPr/>
            <p:nvPr/>
          </p:nvSpPr>
          <p:spPr>
            <a:xfrm flipH="false" flipV="false" rot="0">
              <a:off x="0" y="0"/>
              <a:ext cx="265612" cy="242991"/>
            </a:xfrm>
            <a:custGeom>
              <a:avLst/>
              <a:gdLst/>
              <a:ahLst/>
              <a:cxnLst/>
              <a:rect r="r" b="b" t="t" l="l"/>
              <a:pathLst>
                <a:path h="242991" w="265612">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0B3FF">
                    <a:alpha val="100000"/>
                  </a:srgbClr>
                </a:gs>
                <a:gs pos="100000">
                  <a:srgbClr val="3A459B">
                    <a:alpha val="100000"/>
                  </a:srgbClr>
                </a:gs>
              </a:gsLst>
              <a:lin ang="0"/>
            </a:gradFill>
          </p:spPr>
        </p:sp>
        <p:sp>
          <p:nvSpPr>
            <p:cNvPr name="TextBox 53" id="53"/>
            <p:cNvSpPr txBox="true"/>
            <p:nvPr/>
          </p:nvSpPr>
          <p:spPr>
            <a:xfrm>
              <a:off x="0" y="-28575"/>
              <a:ext cx="265612" cy="271566"/>
            </a:xfrm>
            <a:prstGeom prst="rect">
              <a:avLst/>
            </a:prstGeom>
          </p:spPr>
          <p:txBody>
            <a:bodyPr anchor="ctr" rtlCol="false" tIns="50800" lIns="50800" bIns="50800" rIns="50800"/>
            <a:lstStyle/>
            <a:p>
              <a:pPr algn="ctr">
                <a:lnSpc>
                  <a:spcPts val="2126"/>
                </a:lnSpc>
              </a:pPr>
            </a:p>
          </p:txBody>
        </p:sp>
      </p:grpSp>
      <p:sp>
        <p:nvSpPr>
          <p:cNvPr name="TextBox 54" id="54"/>
          <p:cNvSpPr txBox="true"/>
          <p:nvPr/>
        </p:nvSpPr>
        <p:spPr>
          <a:xfrm rot="0">
            <a:off x="10034901" y="4313456"/>
            <a:ext cx="797349" cy="525150"/>
          </a:xfrm>
          <a:prstGeom prst="rect">
            <a:avLst/>
          </a:prstGeom>
        </p:spPr>
        <p:txBody>
          <a:bodyPr anchor="t" rtlCol="false" tIns="0" lIns="0" bIns="0" rIns="0">
            <a:spAutoFit/>
          </a:bodyPr>
          <a:lstStyle/>
          <a:p>
            <a:pPr algn="l">
              <a:lnSpc>
                <a:spcPts val="3690"/>
              </a:lnSpc>
            </a:pPr>
            <a:r>
              <a:rPr lang="en-US" sz="2754" b="true">
                <a:solidFill>
                  <a:srgbClr val="FFFFFF"/>
                </a:solidFill>
                <a:latin typeface="Agrandir Bold"/>
                <a:ea typeface="Agrandir Bold"/>
                <a:cs typeface="Agrandir Bold"/>
                <a:sym typeface="Agrandir Bold"/>
              </a:rPr>
              <a:t>06.</a:t>
            </a:r>
          </a:p>
        </p:txBody>
      </p:sp>
      <p:grpSp>
        <p:nvGrpSpPr>
          <p:cNvPr name="Group 55" id="55"/>
          <p:cNvGrpSpPr/>
          <p:nvPr/>
        </p:nvGrpSpPr>
        <p:grpSpPr>
          <a:xfrm rot="0">
            <a:off x="9750353" y="5598697"/>
            <a:ext cx="4458882" cy="989754"/>
            <a:chOff x="0" y="0"/>
            <a:chExt cx="1094683" cy="242991"/>
          </a:xfrm>
        </p:grpSpPr>
        <p:sp>
          <p:nvSpPr>
            <p:cNvPr name="Freeform 56" id="56"/>
            <p:cNvSpPr/>
            <p:nvPr/>
          </p:nvSpPr>
          <p:spPr>
            <a:xfrm flipH="false" flipV="false" rot="0">
              <a:off x="0" y="0"/>
              <a:ext cx="1094683" cy="242991"/>
            </a:xfrm>
            <a:custGeom>
              <a:avLst/>
              <a:gdLst/>
              <a:ahLst/>
              <a:cxnLst/>
              <a:rect r="r" b="b" t="t" l="l"/>
              <a:pathLst>
                <a:path h="242991" w="1094683">
                  <a:moveTo>
                    <a:pt x="121495" y="0"/>
                  </a:moveTo>
                  <a:lnTo>
                    <a:pt x="973187" y="0"/>
                  </a:lnTo>
                  <a:cubicBezTo>
                    <a:pt x="1005410" y="0"/>
                    <a:pt x="1036313" y="12800"/>
                    <a:pt x="1059098" y="35585"/>
                  </a:cubicBezTo>
                  <a:cubicBezTo>
                    <a:pt x="1081882" y="58370"/>
                    <a:pt x="1094683" y="89273"/>
                    <a:pt x="1094683" y="121495"/>
                  </a:cubicBezTo>
                  <a:lnTo>
                    <a:pt x="1094683" y="121495"/>
                  </a:lnTo>
                  <a:cubicBezTo>
                    <a:pt x="1094683" y="153718"/>
                    <a:pt x="1081882" y="184621"/>
                    <a:pt x="1059098" y="207406"/>
                  </a:cubicBezTo>
                  <a:cubicBezTo>
                    <a:pt x="1036313" y="230190"/>
                    <a:pt x="1005410" y="242991"/>
                    <a:pt x="97318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C2756">
                    <a:alpha val="100000"/>
                  </a:srgbClr>
                </a:gs>
                <a:gs pos="100000">
                  <a:srgbClr val="1E527D">
                    <a:alpha val="100000"/>
                  </a:srgbClr>
                </a:gs>
              </a:gsLst>
              <a:lin ang="0"/>
            </a:gradFill>
          </p:spPr>
        </p:sp>
        <p:sp>
          <p:nvSpPr>
            <p:cNvPr name="TextBox 57" id="57"/>
            <p:cNvSpPr txBox="true"/>
            <p:nvPr/>
          </p:nvSpPr>
          <p:spPr>
            <a:xfrm>
              <a:off x="0" y="-28575"/>
              <a:ext cx="1094683" cy="271566"/>
            </a:xfrm>
            <a:prstGeom prst="rect">
              <a:avLst/>
            </a:prstGeom>
          </p:spPr>
          <p:txBody>
            <a:bodyPr anchor="ctr" rtlCol="false" tIns="50800" lIns="50800" bIns="50800" rIns="50800"/>
            <a:lstStyle/>
            <a:p>
              <a:pPr algn="ctr">
                <a:lnSpc>
                  <a:spcPts val="2126"/>
                </a:lnSpc>
              </a:pPr>
            </a:p>
          </p:txBody>
        </p:sp>
      </p:grpSp>
      <p:sp>
        <p:nvSpPr>
          <p:cNvPr name="TextBox 58" id="58"/>
          <p:cNvSpPr txBox="true"/>
          <p:nvPr/>
        </p:nvSpPr>
        <p:spPr>
          <a:xfrm rot="0">
            <a:off x="10898480" y="5844165"/>
            <a:ext cx="3092126" cy="441667"/>
          </a:xfrm>
          <a:prstGeom prst="rect">
            <a:avLst/>
          </a:prstGeom>
        </p:spPr>
        <p:txBody>
          <a:bodyPr anchor="t" rtlCol="false" tIns="0" lIns="0" bIns="0" rIns="0">
            <a:spAutoFit/>
          </a:bodyPr>
          <a:lstStyle/>
          <a:p>
            <a:pPr algn="l">
              <a:lnSpc>
                <a:spcPts val="2978"/>
              </a:lnSpc>
            </a:pPr>
            <a:r>
              <a:rPr lang="en-US" sz="2567">
                <a:solidFill>
                  <a:srgbClr val="FFFFFF"/>
                </a:solidFill>
                <a:latin typeface="Agrandir"/>
                <a:ea typeface="Agrandir"/>
                <a:cs typeface="Agrandir"/>
                <a:sym typeface="Agrandir"/>
              </a:rPr>
              <a:t>Kesimpulan &amp; Insight</a:t>
            </a:r>
          </a:p>
        </p:txBody>
      </p:sp>
      <p:grpSp>
        <p:nvGrpSpPr>
          <p:cNvPr name="Group 59" id="59"/>
          <p:cNvGrpSpPr/>
          <p:nvPr/>
        </p:nvGrpSpPr>
        <p:grpSpPr>
          <a:xfrm rot="0">
            <a:off x="9750353" y="5598697"/>
            <a:ext cx="1081897" cy="989754"/>
            <a:chOff x="0" y="0"/>
            <a:chExt cx="265612" cy="242991"/>
          </a:xfrm>
        </p:grpSpPr>
        <p:sp>
          <p:nvSpPr>
            <p:cNvPr name="Freeform 60" id="60"/>
            <p:cNvSpPr/>
            <p:nvPr/>
          </p:nvSpPr>
          <p:spPr>
            <a:xfrm flipH="false" flipV="false" rot="0">
              <a:off x="0" y="0"/>
              <a:ext cx="265612" cy="242991"/>
            </a:xfrm>
            <a:custGeom>
              <a:avLst/>
              <a:gdLst/>
              <a:ahLst/>
              <a:cxnLst/>
              <a:rect r="r" b="b" t="t" l="l"/>
              <a:pathLst>
                <a:path h="242991" w="265612">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0B3FF">
                    <a:alpha val="100000"/>
                  </a:srgbClr>
                </a:gs>
                <a:gs pos="100000">
                  <a:srgbClr val="3A459B">
                    <a:alpha val="100000"/>
                  </a:srgbClr>
                </a:gs>
              </a:gsLst>
              <a:lin ang="0"/>
            </a:gradFill>
          </p:spPr>
        </p:sp>
        <p:sp>
          <p:nvSpPr>
            <p:cNvPr name="TextBox 61" id="61"/>
            <p:cNvSpPr txBox="true"/>
            <p:nvPr/>
          </p:nvSpPr>
          <p:spPr>
            <a:xfrm>
              <a:off x="0" y="-28575"/>
              <a:ext cx="265612" cy="271566"/>
            </a:xfrm>
            <a:prstGeom prst="rect">
              <a:avLst/>
            </a:prstGeom>
          </p:spPr>
          <p:txBody>
            <a:bodyPr anchor="ctr" rtlCol="false" tIns="50800" lIns="50800" bIns="50800" rIns="50800"/>
            <a:lstStyle/>
            <a:p>
              <a:pPr algn="ctr">
                <a:lnSpc>
                  <a:spcPts val="2126"/>
                </a:lnSpc>
              </a:pPr>
            </a:p>
          </p:txBody>
        </p:sp>
      </p:grpSp>
      <p:sp>
        <p:nvSpPr>
          <p:cNvPr name="TextBox 62" id="62"/>
          <p:cNvSpPr txBox="true"/>
          <p:nvPr/>
        </p:nvSpPr>
        <p:spPr>
          <a:xfrm rot="0">
            <a:off x="10034901" y="5773849"/>
            <a:ext cx="797349" cy="525150"/>
          </a:xfrm>
          <a:prstGeom prst="rect">
            <a:avLst/>
          </a:prstGeom>
        </p:spPr>
        <p:txBody>
          <a:bodyPr anchor="t" rtlCol="false" tIns="0" lIns="0" bIns="0" rIns="0">
            <a:spAutoFit/>
          </a:bodyPr>
          <a:lstStyle/>
          <a:p>
            <a:pPr algn="l">
              <a:lnSpc>
                <a:spcPts val="3690"/>
              </a:lnSpc>
            </a:pPr>
            <a:r>
              <a:rPr lang="en-US" sz="2754" b="true">
                <a:solidFill>
                  <a:srgbClr val="FFFFFF"/>
                </a:solidFill>
                <a:latin typeface="Agrandir Bold"/>
                <a:ea typeface="Agrandir Bold"/>
                <a:cs typeface="Agrandir Bold"/>
                <a:sym typeface="Agrandir Bold"/>
              </a:rPr>
              <a:t>07.</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graphicFrame>
        <p:nvGraphicFramePr>
          <p:cNvPr name="Object 6" id="6"/>
          <p:cNvGraphicFramePr/>
          <p:nvPr/>
        </p:nvGraphicFramePr>
        <p:xfrm>
          <a:off x="4234445" y="3667977"/>
          <a:ext cx="7586157" cy="4274588"/>
        </p:xfrm>
        <a:graphic>
          <a:graphicData uri="http://schemas.openxmlformats.org/presentationml/2006/ole">
            <p:oleObj imgW="9105900" imgH="57912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7" id="7"/>
          <p:cNvSpPr txBox="true"/>
          <p:nvPr/>
        </p:nvSpPr>
        <p:spPr>
          <a:xfrm rot="0">
            <a:off x="7779598" y="426246"/>
            <a:ext cx="2728805" cy="896330"/>
          </a:xfrm>
          <a:prstGeom prst="rect">
            <a:avLst/>
          </a:prstGeom>
        </p:spPr>
        <p:txBody>
          <a:bodyPr anchor="t" rtlCol="false" tIns="0" lIns="0" bIns="0" rIns="0">
            <a:spAutoFit/>
          </a:bodyPr>
          <a:lstStyle/>
          <a:p>
            <a:pPr algn="l">
              <a:lnSpc>
                <a:spcPts val="6875"/>
              </a:lnSpc>
            </a:pPr>
            <a:r>
              <a:rPr lang="en-US" sz="6610">
                <a:solidFill>
                  <a:srgbClr val="FFFFFF"/>
                </a:solidFill>
                <a:latin typeface="Anton"/>
                <a:ea typeface="Anton"/>
                <a:cs typeface="Anton"/>
                <a:sym typeface="Anton"/>
              </a:rPr>
              <a:t>DATASET</a:t>
            </a:r>
          </a:p>
        </p:txBody>
      </p:sp>
      <p:sp>
        <p:nvSpPr>
          <p:cNvPr name="TextBox 8" id="8"/>
          <p:cNvSpPr txBox="true"/>
          <p:nvPr/>
        </p:nvSpPr>
        <p:spPr>
          <a:xfrm rot="0">
            <a:off x="4234445" y="6627424"/>
            <a:ext cx="4979076" cy="2630876"/>
          </a:xfrm>
          <a:prstGeom prst="rect">
            <a:avLst/>
          </a:prstGeom>
        </p:spPr>
        <p:txBody>
          <a:bodyPr anchor="t" rtlCol="false" tIns="0" lIns="0" bIns="0" rIns="0">
            <a:spAutoFit/>
          </a:bodyPr>
          <a:lstStyle/>
          <a:p>
            <a:pPr algn="l">
              <a:lnSpc>
                <a:spcPts val="3440"/>
              </a:lnSpc>
            </a:pPr>
            <a:r>
              <a:rPr lang="en-US" sz="2567" b="true">
                <a:solidFill>
                  <a:srgbClr val="050056"/>
                </a:solidFill>
                <a:latin typeface="Agrandir Bold"/>
                <a:ea typeface="Agrandir Bold"/>
                <a:cs typeface="Agrandir Bold"/>
                <a:sym typeface="Agrandir Bold"/>
              </a:rPr>
              <a:t>41 Fitur </a:t>
            </a:r>
            <a:r>
              <a:rPr lang="en-US" sz="2567" b="true">
                <a:solidFill>
                  <a:srgbClr val="050056"/>
                </a:solidFill>
                <a:latin typeface="Agrandir Bold"/>
                <a:ea typeface="Agrandir Bold"/>
                <a:cs typeface="Agrandir Bold"/>
                <a:sym typeface="Agrandir Bold"/>
              </a:rPr>
              <a:t>Klinis (8 Kelompok)</a:t>
            </a:r>
          </a:p>
          <a:p>
            <a:pPr algn="l" marL="554305" indent="-277152" lvl="1">
              <a:lnSpc>
                <a:spcPts val="3440"/>
              </a:lnSpc>
              <a:buFont typeface="Arial"/>
              <a:buChar char="•"/>
            </a:pPr>
            <a:r>
              <a:rPr lang="en-US" b="true" sz="2567">
                <a:solidFill>
                  <a:srgbClr val="050056"/>
                </a:solidFill>
                <a:latin typeface="Agrandir Bold"/>
                <a:ea typeface="Agrandir Bold"/>
                <a:cs typeface="Agrandir Bold"/>
                <a:sym typeface="Agrandir Bold"/>
              </a:rPr>
              <a:t>Data Dasar Obstetrik​</a:t>
            </a:r>
          </a:p>
          <a:p>
            <a:pPr algn="l" marL="554305" indent="-277152" lvl="1">
              <a:lnSpc>
                <a:spcPts val="3440"/>
              </a:lnSpc>
              <a:buFont typeface="Arial"/>
              <a:buChar char="•"/>
            </a:pPr>
            <a:r>
              <a:rPr lang="en-US" b="true" sz="2567">
                <a:solidFill>
                  <a:srgbClr val="050056"/>
                </a:solidFill>
                <a:latin typeface="Agrandir Bold"/>
                <a:ea typeface="Agrandir Bold"/>
                <a:cs typeface="Agrandir Bold"/>
                <a:sym typeface="Agrandir Bold"/>
              </a:rPr>
              <a:t>Antropometri​</a:t>
            </a:r>
          </a:p>
          <a:p>
            <a:pPr algn="l" marL="554305" indent="-277152" lvl="1">
              <a:lnSpc>
                <a:spcPts val="3440"/>
              </a:lnSpc>
              <a:buFont typeface="Arial"/>
              <a:buChar char="•"/>
            </a:pPr>
            <a:r>
              <a:rPr lang="en-US" b="true" sz="2567">
                <a:solidFill>
                  <a:srgbClr val="050056"/>
                </a:solidFill>
                <a:latin typeface="Agrandir Bold"/>
                <a:ea typeface="Agrandir Bold"/>
                <a:cs typeface="Agrandir Bold"/>
                <a:sym typeface="Agrandir Bold"/>
              </a:rPr>
              <a:t>Tanda Vital + MAP</a:t>
            </a:r>
          </a:p>
          <a:p>
            <a:pPr algn="l" marL="554305" indent="-277152" lvl="1">
              <a:lnSpc>
                <a:spcPts val="3440"/>
              </a:lnSpc>
              <a:buFont typeface="Arial"/>
              <a:buChar char="•"/>
            </a:pPr>
            <a:r>
              <a:rPr lang="en-US" b="true" sz="2567">
                <a:solidFill>
                  <a:srgbClr val="050056"/>
                </a:solidFill>
                <a:latin typeface="Agrandir Bold"/>
                <a:ea typeface="Agrandir Bold"/>
                <a:cs typeface="Agrandir Bold"/>
                <a:sym typeface="Agrandir Bold"/>
              </a:rPr>
              <a:t>Laboratorium (Hb)</a:t>
            </a:r>
          </a:p>
          <a:p>
            <a:pPr algn="l" marL="554305" indent="-277152" lvl="1">
              <a:lnSpc>
                <a:spcPts val="3440"/>
              </a:lnSpc>
              <a:buFont typeface="Arial"/>
              <a:buChar char="•"/>
            </a:pPr>
            <a:r>
              <a:rPr lang="en-US" b="true" sz="2567">
                <a:solidFill>
                  <a:srgbClr val="050056"/>
                </a:solidFill>
                <a:latin typeface="Agrandir Bold"/>
                <a:ea typeface="Agrandir Bold"/>
                <a:cs typeface="Agrandir Bold"/>
                <a:sym typeface="Agrandir Bold"/>
              </a:rPr>
              <a:t>Riwayat &amp; Tripel Eliminasi</a:t>
            </a:r>
          </a:p>
        </p:txBody>
      </p:sp>
      <p:sp>
        <p:nvSpPr>
          <p:cNvPr name="TextBox 9" id="9"/>
          <p:cNvSpPr txBox="true"/>
          <p:nvPr/>
        </p:nvSpPr>
        <p:spPr>
          <a:xfrm rot="0">
            <a:off x="4234445" y="2513976"/>
            <a:ext cx="9958153" cy="885817"/>
          </a:xfrm>
          <a:prstGeom prst="rect">
            <a:avLst/>
          </a:prstGeom>
        </p:spPr>
        <p:txBody>
          <a:bodyPr anchor="t" rtlCol="false" tIns="0" lIns="0" bIns="0" rIns="0">
            <a:spAutoFit/>
          </a:bodyPr>
          <a:lstStyle/>
          <a:p>
            <a:pPr algn="l">
              <a:lnSpc>
                <a:spcPts val="3310"/>
              </a:lnSpc>
            </a:pPr>
            <a:r>
              <a:rPr lang="en-US" sz="2470">
                <a:solidFill>
                  <a:srgbClr val="050056"/>
                </a:solidFill>
                <a:latin typeface="Agrandir"/>
                <a:ea typeface="Agrandir"/>
                <a:cs typeface="Agrandir"/>
                <a:sym typeface="Agrandir"/>
              </a:rPr>
              <a:t>Dataset yang digunakan dalam penelitian ini merupakan dataset primer dengan mengambil langsung data Rekam medis ANC </a:t>
            </a:r>
          </a:p>
        </p:txBody>
      </p:sp>
      <p:sp>
        <p:nvSpPr>
          <p:cNvPr name="TextBox 10" id="10"/>
          <p:cNvSpPr txBox="true"/>
          <p:nvPr/>
        </p:nvSpPr>
        <p:spPr>
          <a:xfrm rot="0">
            <a:off x="8836611" y="6627424"/>
            <a:ext cx="4175522" cy="1773626"/>
          </a:xfrm>
          <a:prstGeom prst="rect">
            <a:avLst/>
          </a:prstGeom>
        </p:spPr>
        <p:txBody>
          <a:bodyPr anchor="t" rtlCol="false" tIns="0" lIns="0" bIns="0" rIns="0">
            <a:spAutoFit/>
          </a:bodyPr>
          <a:lstStyle/>
          <a:p>
            <a:pPr algn="l">
              <a:lnSpc>
                <a:spcPts val="3440"/>
              </a:lnSpc>
            </a:pPr>
          </a:p>
          <a:p>
            <a:pPr algn="l" marL="554305" indent="-277152" lvl="1">
              <a:lnSpc>
                <a:spcPts val="3440"/>
              </a:lnSpc>
              <a:buFont typeface="Arial"/>
              <a:buChar char="•"/>
            </a:pPr>
            <a:r>
              <a:rPr lang="en-US" b="true" sz="2567">
                <a:solidFill>
                  <a:srgbClr val="050056"/>
                </a:solidFill>
                <a:latin typeface="Agrandir Bold"/>
                <a:ea typeface="Agrandir Bold"/>
                <a:cs typeface="Agrandir Bold"/>
                <a:sym typeface="Agrandir Bold"/>
              </a:rPr>
              <a:t>Kategori Encoded</a:t>
            </a:r>
          </a:p>
          <a:p>
            <a:pPr algn="l" marL="554305" indent="-277152" lvl="1">
              <a:lnSpc>
                <a:spcPts val="3440"/>
              </a:lnSpc>
              <a:buFont typeface="Arial"/>
              <a:buChar char="•"/>
            </a:pPr>
            <a:r>
              <a:rPr lang="en-US" b="true" sz="2567">
                <a:solidFill>
                  <a:srgbClr val="050056"/>
                </a:solidFill>
                <a:latin typeface="Agrandir Bold"/>
                <a:ea typeface="Agrandir Bold"/>
                <a:cs typeface="Agrandir Bold"/>
                <a:sym typeface="Agrandir Bold"/>
              </a:rPr>
              <a:t>Binary Clinical Flags​</a:t>
            </a:r>
          </a:p>
          <a:p>
            <a:pPr algn="l" marL="554305" indent="-277152" lvl="1">
              <a:lnSpc>
                <a:spcPts val="3440"/>
              </a:lnSpc>
              <a:buFont typeface="Arial"/>
              <a:buChar char="•"/>
            </a:pPr>
            <a:r>
              <a:rPr lang="en-US" b="true" sz="2567">
                <a:solidFill>
                  <a:srgbClr val="050056"/>
                </a:solidFill>
                <a:latin typeface="Agrandir Bold"/>
                <a:ea typeface="Agrandir Bold"/>
                <a:cs typeface="Agrandir Bold"/>
                <a:sym typeface="Agrandir Bold"/>
              </a:rPr>
              <a:t>Risk Score Komposit​​​​​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grpSp>
        <p:nvGrpSpPr>
          <p:cNvPr name="Group 6" id="6"/>
          <p:cNvGrpSpPr/>
          <p:nvPr/>
        </p:nvGrpSpPr>
        <p:grpSpPr>
          <a:xfrm rot="0">
            <a:off x="220181" y="2859192"/>
            <a:ext cx="6532226" cy="989754"/>
            <a:chOff x="0" y="0"/>
            <a:chExt cx="1603701" cy="242991"/>
          </a:xfrm>
        </p:grpSpPr>
        <p:sp>
          <p:nvSpPr>
            <p:cNvPr name="Freeform 7" id="7"/>
            <p:cNvSpPr/>
            <p:nvPr/>
          </p:nvSpPr>
          <p:spPr>
            <a:xfrm flipH="false" flipV="false" rot="0">
              <a:off x="0" y="0"/>
              <a:ext cx="1603701" cy="242991"/>
            </a:xfrm>
            <a:custGeom>
              <a:avLst/>
              <a:gdLst/>
              <a:ahLst/>
              <a:cxnLst/>
              <a:rect r="r" b="b" t="t" l="l"/>
              <a:pathLst>
                <a:path h="242991" w="1603701">
                  <a:moveTo>
                    <a:pt x="118519" y="0"/>
                  </a:moveTo>
                  <a:lnTo>
                    <a:pt x="1485183" y="0"/>
                  </a:lnTo>
                  <a:cubicBezTo>
                    <a:pt x="1516616" y="0"/>
                    <a:pt x="1546761" y="12487"/>
                    <a:pt x="1568988" y="34713"/>
                  </a:cubicBezTo>
                  <a:cubicBezTo>
                    <a:pt x="1591215" y="56940"/>
                    <a:pt x="1603701" y="87086"/>
                    <a:pt x="1603701" y="118519"/>
                  </a:cubicBezTo>
                  <a:lnTo>
                    <a:pt x="1603701" y="124472"/>
                  </a:lnTo>
                  <a:cubicBezTo>
                    <a:pt x="1603701" y="155905"/>
                    <a:pt x="1591215" y="186051"/>
                    <a:pt x="1568988" y="208277"/>
                  </a:cubicBezTo>
                  <a:cubicBezTo>
                    <a:pt x="1546761" y="230504"/>
                    <a:pt x="1516616" y="242991"/>
                    <a:pt x="1485183" y="242991"/>
                  </a:cubicBezTo>
                  <a:lnTo>
                    <a:pt x="118519" y="242991"/>
                  </a:lnTo>
                  <a:cubicBezTo>
                    <a:pt x="53063" y="242991"/>
                    <a:pt x="0" y="189928"/>
                    <a:pt x="0" y="124472"/>
                  </a:cubicBezTo>
                  <a:lnTo>
                    <a:pt x="0" y="118519"/>
                  </a:lnTo>
                  <a:cubicBezTo>
                    <a:pt x="0" y="87086"/>
                    <a:pt x="12487" y="56940"/>
                    <a:pt x="34713" y="34713"/>
                  </a:cubicBezTo>
                  <a:cubicBezTo>
                    <a:pt x="56940" y="12487"/>
                    <a:pt x="87086" y="0"/>
                    <a:pt x="118519" y="0"/>
                  </a:cubicBezTo>
                  <a:close/>
                </a:path>
              </a:pathLst>
            </a:custGeom>
            <a:gradFill rotWithShape="true">
              <a:gsLst>
                <a:gs pos="0">
                  <a:srgbClr val="0C2756">
                    <a:alpha val="100000"/>
                  </a:srgbClr>
                </a:gs>
                <a:gs pos="100000">
                  <a:srgbClr val="1E527D">
                    <a:alpha val="100000"/>
                  </a:srgbClr>
                </a:gs>
              </a:gsLst>
              <a:lin ang="0"/>
            </a:gradFill>
          </p:spPr>
        </p:sp>
        <p:sp>
          <p:nvSpPr>
            <p:cNvPr name="TextBox 8" id="8"/>
            <p:cNvSpPr txBox="true"/>
            <p:nvPr/>
          </p:nvSpPr>
          <p:spPr>
            <a:xfrm>
              <a:off x="0" y="-28575"/>
              <a:ext cx="1603701" cy="271566"/>
            </a:xfrm>
            <a:prstGeom prst="rect">
              <a:avLst/>
            </a:prstGeom>
          </p:spPr>
          <p:txBody>
            <a:bodyPr anchor="ctr" rtlCol="false" tIns="50800" lIns="50800" bIns="50800" rIns="50800"/>
            <a:lstStyle/>
            <a:p>
              <a:pPr algn="ctr">
                <a:lnSpc>
                  <a:spcPts val="2126"/>
                </a:lnSpc>
              </a:pPr>
            </a:p>
          </p:txBody>
        </p:sp>
      </p:grpSp>
      <p:grpSp>
        <p:nvGrpSpPr>
          <p:cNvPr name="Group 9" id="9"/>
          <p:cNvGrpSpPr/>
          <p:nvPr/>
        </p:nvGrpSpPr>
        <p:grpSpPr>
          <a:xfrm rot="0">
            <a:off x="201131" y="2859192"/>
            <a:ext cx="1081897" cy="989754"/>
            <a:chOff x="0" y="0"/>
            <a:chExt cx="265612" cy="242991"/>
          </a:xfrm>
        </p:grpSpPr>
        <p:sp>
          <p:nvSpPr>
            <p:cNvPr name="Freeform 10" id="10"/>
            <p:cNvSpPr/>
            <p:nvPr/>
          </p:nvSpPr>
          <p:spPr>
            <a:xfrm flipH="false" flipV="false" rot="0">
              <a:off x="0" y="0"/>
              <a:ext cx="265612" cy="242991"/>
            </a:xfrm>
            <a:custGeom>
              <a:avLst/>
              <a:gdLst/>
              <a:ahLst/>
              <a:cxnLst/>
              <a:rect r="r" b="b" t="t" l="l"/>
              <a:pathLst>
                <a:path h="242991" w="265612">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0B3FF">
                    <a:alpha val="100000"/>
                  </a:srgbClr>
                </a:gs>
                <a:gs pos="100000">
                  <a:srgbClr val="3A459B">
                    <a:alpha val="100000"/>
                  </a:srgbClr>
                </a:gs>
              </a:gsLst>
              <a:lin ang="0"/>
            </a:gradFill>
          </p:spPr>
        </p:sp>
        <p:sp>
          <p:nvSpPr>
            <p:cNvPr name="TextBox 11" id="11"/>
            <p:cNvSpPr txBox="true"/>
            <p:nvPr/>
          </p:nvSpPr>
          <p:spPr>
            <a:xfrm>
              <a:off x="0" y="-28575"/>
              <a:ext cx="265612" cy="271566"/>
            </a:xfrm>
            <a:prstGeom prst="rect">
              <a:avLst/>
            </a:prstGeom>
          </p:spPr>
          <p:txBody>
            <a:bodyPr anchor="ctr" rtlCol="false" tIns="50800" lIns="50800" bIns="50800" rIns="50800"/>
            <a:lstStyle/>
            <a:p>
              <a:pPr algn="ctr">
                <a:lnSpc>
                  <a:spcPts val="2126"/>
                </a:lnSpc>
              </a:pPr>
            </a:p>
          </p:txBody>
        </p:sp>
      </p:grpSp>
      <p:grpSp>
        <p:nvGrpSpPr>
          <p:cNvPr name="Group 12" id="12"/>
          <p:cNvGrpSpPr/>
          <p:nvPr/>
        </p:nvGrpSpPr>
        <p:grpSpPr>
          <a:xfrm rot="0">
            <a:off x="286856" y="5482637"/>
            <a:ext cx="6446501" cy="989754"/>
            <a:chOff x="0" y="0"/>
            <a:chExt cx="1582655" cy="242991"/>
          </a:xfrm>
        </p:grpSpPr>
        <p:sp>
          <p:nvSpPr>
            <p:cNvPr name="Freeform 13" id="13"/>
            <p:cNvSpPr/>
            <p:nvPr/>
          </p:nvSpPr>
          <p:spPr>
            <a:xfrm flipH="false" flipV="false" rot="0">
              <a:off x="0" y="0"/>
              <a:ext cx="1582655" cy="242991"/>
            </a:xfrm>
            <a:custGeom>
              <a:avLst/>
              <a:gdLst/>
              <a:ahLst/>
              <a:cxnLst/>
              <a:rect r="r" b="b" t="t" l="l"/>
              <a:pathLst>
                <a:path h="242991" w="1582655">
                  <a:moveTo>
                    <a:pt x="120095" y="0"/>
                  </a:moveTo>
                  <a:lnTo>
                    <a:pt x="1462561" y="0"/>
                  </a:lnTo>
                  <a:cubicBezTo>
                    <a:pt x="1528887" y="0"/>
                    <a:pt x="1582655" y="53768"/>
                    <a:pt x="1582655" y="120095"/>
                  </a:cubicBezTo>
                  <a:lnTo>
                    <a:pt x="1582655" y="122896"/>
                  </a:lnTo>
                  <a:cubicBezTo>
                    <a:pt x="1582655" y="189222"/>
                    <a:pt x="1528887" y="242991"/>
                    <a:pt x="1462561" y="242991"/>
                  </a:cubicBezTo>
                  <a:lnTo>
                    <a:pt x="120095" y="242991"/>
                  </a:lnTo>
                  <a:cubicBezTo>
                    <a:pt x="53768" y="242991"/>
                    <a:pt x="0" y="189222"/>
                    <a:pt x="0" y="122896"/>
                  </a:cubicBezTo>
                  <a:lnTo>
                    <a:pt x="0" y="120095"/>
                  </a:lnTo>
                  <a:cubicBezTo>
                    <a:pt x="0" y="53768"/>
                    <a:pt x="53768" y="0"/>
                    <a:pt x="120095" y="0"/>
                  </a:cubicBezTo>
                  <a:close/>
                </a:path>
              </a:pathLst>
            </a:custGeom>
            <a:gradFill rotWithShape="true">
              <a:gsLst>
                <a:gs pos="0">
                  <a:srgbClr val="0C2756">
                    <a:alpha val="100000"/>
                  </a:srgbClr>
                </a:gs>
                <a:gs pos="100000">
                  <a:srgbClr val="1E527D">
                    <a:alpha val="100000"/>
                  </a:srgbClr>
                </a:gs>
              </a:gsLst>
              <a:lin ang="0"/>
            </a:gradFill>
          </p:spPr>
        </p:sp>
        <p:sp>
          <p:nvSpPr>
            <p:cNvPr name="TextBox 14" id="14"/>
            <p:cNvSpPr txBox="true"/>
            <p:nvPr/>
          </p:nvSpPr>
          <p:spPr>
            <a:xfrm>
              <a:off x="0" y="-28575"/>
              <a:ext cx="1582655" cy="271566"/>
            </a:xfrm>
            <a:prstGeom prst="rect">
              <a:avLst/>
            </a:prstGeom>
          </p:spPr>
          <p:txBody>
            <a:bodyPr anchor="ctr" rtlCol="false" tIns="50800" lIns="50800" bIns="50800" rIns="50800"/>
            <a:lstStyle/>
            <a:p>
              <a:pPr algn="ctr">
                <a:lnSpc>
                  <a:spcPts val="2126"/>
                </a:lnSpc>
              </a:pPr>
            </a:p>
          </p:txBody>
        </p:sp>
      </p:grpSp>
      <p:grpSp>
        <p:nvGrpSpPr>
          <p:cNvPr name="Group 15" id="15"/>
          <p:cNvGrpSpPr/>
          <p:nvPr/>
        </p:nvGrpSpPr>
        <p:grpSpPr>
          <a:xfrm rot="0">
            <a:off x="286856" y="5482637"/>
            <a:ext cx="1081897" cy="989754"/>
            <a:chOff x="0" y="0"/>
            <a:chExt cx="265612" cy="242991"/>
          </a:xfrm>
        </p:grpSpPr>
        <p:sp>
          <p:nvSpPr>
            <p:cNvPr name="Freeform 16" id="16"/>
            <p:cNvSpPr/>
            <p:nvPr/>
          </p:nvSpPr>
          <p:spPr>
            <a:xfrm flipH="false" flipV="false" rot="0">
              <a:off x="0" y="0"/>
              <a:ext cx="265612" cy="242991"/>
            </a:xfrm>
            <a:custGeom>
              <a:avLst/>
              <a:gdLst/>
              <a:ahLst/>
              <a:cxnLst/>
              <a:rect r="r" b="b" t="t" l="l"/>
              <a:pathLst>
                <a:path h="242991" w="265612">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0B3FF">
                    <a:alpha val="100000"/>
                  </a:srgbClr>
                </a:gs>
                <a:gs pos="100000">
                  <a:srgbClr val="3A459B">
                    <a:alpha val="100000"/>
                  </a:srgbClr>
                </a:gs>
              </a:gsLst>
              <a:lin ang="0"/>
            </a:gradFill>
          </p:spPr>
        </p:sp>
        <p:sp>
          <p:nvSpPr>
            <p:cNvPr name="TextBox 17" id="17"/>
            <p:cNvSpPr txBox="true"/>
            <p:nvPr/>
          </p:nvSpPr>
          <p:spPr>
            <a:xfrm>
              <a:off x="0" y="-28575"/>
              <a:ext cx="265612" cy="271566"/>
            </a:xfrm>
            <a:prstGeom prst="rect">
              <a:avLst/>
            </a:prstGeom>
          </p:spPr>
          <p:txBody>
            <a:bodyPr anchor="ctr" rtlCol="false" tIns="50800" lIns="50800" bIns="50800" rIns="50800"/>
            <a:lstStyle/>
            <a:p>
              <a:pPr algn="ctr">
                <a:lnSpc>
                  <a:spcPts val="2126"/>
                </a:lnSpc>
              </a:pPr>
            </a:p>
          </p:txBody>
        </p:sp>
      </p:grpSp>
      <p:grpSp>
        <p:nvGrpSpPr>
          <p:cNvPr name="Group 18" id="18"/>
          <p:cNvGrpSpPr/>
          <p:nvPr/>
        </p:nvGrpSpPr>
        <p:grpSpPr>
          <a:xfrm rot="0">
            <a:off x="9903980" y="2730718"/>
            <a:ext cx="5692957" cy="989754"/>
            <a:chOff x="0" y="0"/>
            <a:chExt cx="1397656" cy="242991"/>
          </a:xfrm>
        </p:grpSpPr>
        <p:sp>
          <p:nvSpPr>
            <p:cNvPr name="Freeform 19" id="19"/>
            <p:cNvSpPr/>
            <p:nvPr/>
          </p:nvSpPr>
          <p:spPr>
            <a:xfrm flipH="false" flipV="false" rot="0">
              <a:off x="0" y="0"/>
              <a:ext cx="1397656" cy="242991"/>
            </a:xfrm>
            <a:custGeom>
              <a:avLst/>
              <a:gdLst/>
              <a:ahLst/>
              <a:cxnLst/>
              <a:rect r="r" b="b" t="t" l="l"/>
              <a:pathLst>
                <a:path h="242991" w="1397656">
                  <a:moveTo>
                    <a:pt x="121495" y="0"/>
                  </a:moveTo>
                  <a:lnTo>
                    <a:pt x="1276160" y="0"/>
                  </a:lnTo>
                  <a:cubicBezTo>
                    <a:pt x="1308383" y="0"/>
                    <a:pt x="1339286" y="12800"/>
                    <a:pt x="1362071" y="35585"/>
                  </a:cubicBezTo>
                  <a:cubicBezTo>
                    <a:pt x="1384855" y="58370"/>
                    <a:pt x="1397656" y="89273"/>
                    <a:pt x="1397656" y="121495"/>
                  </a:cubicBezTo>
                  <a:lnTo>
                    <a:pt x="1397656" y="121495"/>
                  </a:lnTo>
                  <a:cubicBezTo>
                    <a:pt x="1397656" y="153718"/>
                    <a:pt x="1384855" y="184621"/>
                    <a:pt x="1362071" y="207406"/>
                  </a:cubicBezTo>
                  <a:cubicBezTo>
                    <a:pt x="1339286" y="230190"/>
                    <a:pt x="1308383" y="242991"/>
                    <a:pt x="1276160"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C2756">
                    <a:alpha val="100000"/>
                  </a:srgbClr>
                </a:gs>
                <a:gs pos="100000">
                  <a:srgbClr val="1E527D">
                    <a:alpha val="100000"/>
                  </a:srgbClr>
                </a:gs>
              </a:gsLst>
              <a:lin ang="0"/>
            </a:gradFill>
          </p:spPr>
        </p:sp>
        <p:sp>
          <p:nvSpPr>
            <p:cNvPr name="TextBox 20" id="20"/>
            <p:cNvSpPr txBox="true"/>
            <p:nvPr/>
          </p:nvSpPr>
          <p:spPr>
            <a:xfrm>
              <a:off x="0" y="-28575"/>
              <a:ext cx="1397656" cy="271566"/>
            </a:xfrm>
            <a:prstGeom prst="rect">
              <a:avLst/>
            </a:prstGeom>
          </p:spPr>
          <p:txBody>
            <a:bodyPr anchor="ctr" rtlCol="false" tIns="50800" lIns="50800" bIns="50800" rIns="50800"/>
            <a:lstStyle/>
            <a:p>
              <a:pPr algn="ctr">
                <a:lnSpc>
                  <a:spcPts val="2126"/>
                </a:lnSpc>
              </a:pPr>
            </a:p>
          </p:txBody>
        </p:sp>
      </p:grpSp>
      <p:grpSp>
        <p:nvGrpSpPr>
          <p:cNvPr name="Group 21" id="21"/>
          <p:cNvGrpSpPr/>
          <p:nvPr/>
        </p:nvGrpSpPr>
        <p:grpSpPr>
          <a:xfrm rot="0">
            <a:off x="9901292" y="2730718"/>
            <a:ext cx="1081897" cy="989754"/>
            <a:chOff x="0" y="0"/>
            <a:chExt cx="265612" cy="242991"/>
          </a:xfrm>
        </p:grpSpPr>
        <p:sp>
          <p:nvSpPr>
            <p:cNvPr name="Freeform 22" id="22"/>
            <p:cNvSpPr/>
            <p:nvPr/>
          </p:nvSpPr>
          <p:spPr>
            <a:xfrm flipH="false" flipV="false" rot="0">
              <a:off x="0" y="0"/>
              <a:ext cx="265612" cy="242991"/>
            </a:xfrm>
            <a:custGeom>
              <a:avLst/>
              <a:gdLst/>
              <a:ahLst/>
              <a:cxnLst/>
              <a:rect r="r" b="b" t="t" l="l"/>
              <a:pathLst>
                <a:path h="242991" w="265612">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0B3FF">
                    <a:alpha val="100000"/>
                  </a:srgbClr>
                </a:gs>
                <a:gs pos="100000">
                  <a:srgbClr val="3A459B">
                    <a:alpha val="100000"/>
                  </a:srgbClr>
                </a:gs>
              </a:gsLst>
              <a:lin ang="0"/>
            </a:gradFill>
          </p:spPr>
        </p:sp>
        <p:sp>
          <p:nvSpPr>
            <p:cNvPr name="TextBox 23" id="23"/>
            <p:cNvSpPr txBox="true"/>
            <p:nvPr/>
          </p:nvSpPr>
          <p:spPr>
            <a:xfrm>
              <a:off x="0" y="-28575"/>
              <a:ext cx="265612" cy="271566"/>
            </a:xfrm>
            <a:prstGeom prst="rect">
              <a:avLst/>
            </a:prstGeom>
          </p:spPr>
          <p:txBody>
            <a:bodyPr anchor="ctr" rtlCol="false" tIns="50800" lIns="50800" bIns="50800" rIns="50800"/>
            <a:lstStyle/>
            <a:p>
              <a:pPr algn="ctr">
                <a:lnSpc>
                  <a:spcPts val="2126"/>
                </a:lnSpc>
              </a:pPr>
            </a:p>
          </p:txBody>
        </p:sp>
      </p:grpSp>
      <p:grpSp>
        <p:nvGrpSpPr>
          <p:cNvPr name="Group 24" id="24"/>
          <p:cNvGrpSpPr/>
          <p:nvPr/>
        </p:nvGrpSpPr>
        <p:grpSpPr>
          <a:xfrm rot="0">
            <a:off x="9986703" y="5449500"/>
            <a:ext cx="5514984" cy="989754"/>
            <a:chOff x="0" y="0"/>
            <a:chExt cx="1353962" cy="242991"/>
          </a:xfrm>
        </p:grpSpPr>
        <p:sp>
          <p:nvSpPr>
            <p:cNvPr name="Freeform 25" id="25"/>
            <p:cNvSpPr/>
            <p:nvPr/>
          </p:nvSpPr>
          <p:spPr>
            <a:xfrm flipH="false" flipV="false" rot="0">
              <a:off x="0" y="0"/>
              <a:ext cx="1353962" cy="242991"/>
            </a:xfrm>
            <a:custGeom>
              <a:avLst/>
              <a:gdLst/>
              <a:ahLst/>
              <a:cxnLst/>
              <a:rect r="r" b="b" t="t" l="l"/>
              <a:pathLst>
                <a:path h="242991" w="1353962">
                  <a:moveTo>
                    <a:pt x="121495" y="0"/>
                  </a:moveTo>
                  <a:lnTo>
                    <a:pt x="1232467" y="0"/>
                  </a:lnTo>
                  <a:cubicBezTo>
                    <a:pt x="1264689" y="0"/>
                    <a:pt x="1295592" y="12800"/>
                    <a:pt x="1318377" y="35585"/>
                  </a:cubicBezTo>
                  <a:cubicBezTo>
                    <a:pt x="1341162" y="58370"/>
                    <a:pt x="1353962" y="89273"/>
                    <a:pt x="1353962" y="121495"/>
                  </a:cubicBezTo>
                  <a:lnTo>
                    <a:pt x="1353962" y="121495"/>
                  </a:lnTo>
                  <a:cubicBezTo>
                    <a:pt x="1353962" y="153718"/>
                    <a:pt x="1341162" y="184621"/>
                    <a:pt x="1318377" y="207406"/>
                  </a:cubicBezTo>
                  <a:cubicBezTo>
                    <a:pt x="1295592" y="230190"/>
                    <a:pt x="1264689" y="242991"/>
                    <a:pt x="123246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C2756">
                    <a:alpha val="100000"/>
                  </a:srgbClr>
                </a:gs>
                <a:gs pos="100000">
                  <a:srgbClr val="1E527D">
                    <a:alpha val="100000"/>
                  </a:srgbClr>
                </a:gs>
              </a:gsLst>
              <a:lin ang="0"/>
            </a:gradFill>
          </p:spPr>
        </p:sp>
        <p:sp>
          <p:nvSpPr>
            <p:cNvPr name="TextBox 26" id="26"/>
            <p:cNvSpPr txBox="true"/>
            <p:nvPr/>
          </p:nvSpPr>
          <p:spPr>
            <a:xfrm>
              <a:off x="0" y="-28575"/>
              <a:ext cx="1353962" cy="271566"/>
            </a:xfrm>
            <a:prstGeom prst="rect">
              <a:avLst/>
            </a:prstGeom>
          </p:spPr>
          <p:txBody>
            <a:bodyPr anchor="ctr" rtlCol="false" tIns="50800" lIns="50800" bIns="50800" rIns="50800"/>
            <a:lstStyle/>
            <a:p>
              <a:pPr algn="ctr">
                <a:lnSpc>
                  <a:spcPts val="2126"/>
                </a:lnSpc>
              </a:pPr>
            </a:p>
          </p:txBody>
        </p:sp>
      </p:grpSp>
      <p:grpSp>
        <p:nvGrpSpPr>
          <p:cNvPr name="Group 27" id="27"/>
          <p:cNvGrpSpPr/>
          <p:nvPr/>
        </p:nvGrpSpPr>
        <p:grpSpPr>
          <a:xfrm rot="0">
            <a:off x="9984015" y="5449500"/>
            <a:ext cx="1081897" cy="989754"/>
            <a:chOff x="0" y="0"/>
            <a:chExt cx="265612" cy="242991"/>
          </a:xfrm>
        </p:grpSpPr>
        <p:sp>
          <p:nvSpPr>
            <p:cNvPr name="Freeform 28" id="28"/>
            <p:cNvSpPr/>
            <p:nvPr/>
          </p:nvSpPr>
          <p:spPr>
            <a:xfrm flipH="false" flipV="false" rot="0">
              <a:off x="0" y="0"/>
              <a:ext cx="265612" cy="242991"/>
            </a:xfrm>
            <a:custGeom>
              <a:avLst/>
              <a:gdLst/>
              <a:ahLst/>
              <a:cxnLst/>
              <a:rect r="r" b="b" t="t" l="l"/>
              <a:pathLst>
                <a:path h="242991" w="265612">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0B3FF">
                    <a:alpha val="100000"/>
                  </a:srgbClr>
                </a:gs>
                <a:gs pos="100000">
                  <a:srgbClr val="3A459B">
                    <a:alpha val="100000"/>
                  </a:srgbClr>
                </a:gs>
              </a:gsLst>
              <a:lin ang="0"/>
            </a:gradFill>
          </p:spPr>
        </p:sp>
        <p:sp>
          <p:nvSpPr>
            <p:cNvPr name="TextBox 29" id="29"/>
            <p:cNvSpPr txBox="true"/>
            <p:nvPr/>
          </p:nvSpPr>
          <p:spPr>
            <a:xfrm>
              <a:off x="0" y="-28575"/>
              <a:ext cx="265612" cy="271566"/>
            </a:xfrm>
            <a:prstGeom prst="rect">
              <a:avLst/>
            </a:prstGeom>
          </p:spPr>
          <p:txBody>
            <a:bodyPr anchor="ctr" rtlCol="false" tIns="50800" lIns="50800" bIns="50800" rIns="50800"/>
            <a:lstStyle/>
            <a:p>
              <a:pPr algn="ctr">
                <a:lnSpc>
                  <a:spcPts val="2126"/>
                </a:lnSpc>
              </a:pPr>
            </a:p>
          </p:txBody>
        </p:sp>
      </p:grpSp>
      <p:sp>
        <p:nvSpPr>
          <p:cNvPr name="Freeform 30" id="30"/>
          <p:cNvSpPr/>
          <p:nvPr/>
        </p:nvSpPr>
        <p:spPr>
          <a:xfrm flipH="false" flipV="false" rot="0">
            <a:off x="-1052485" y="-1384082"/>
            <a:ext cx="4162370" cy="4114800"/>
          </a:xfrm>
          <a:custGeom>
            <a:avLst/>
            <a:gdLst/>
            <a:ahLst/>
            <a:cxnLst/>
            <a:rect r="r" b="b" t="t" l="l"/>
            <a:pathLst>
              <a:path h="4114800" w="4162370">
                <a:moveTo>
                  <a:pt x="0" y="0"/>
                </a:moveTo>
                <a:lnTo>
                  <a:pt x="4162370" y="0"/>
                </a:lnTo>
                <a:lnTo>
                  <a:pt x="416237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1" id="31"/>
          <p:cNvSpPr/>
          <p:nvPr/>
        </p:nvSpPr>
        <p:spPr>
          <a:xfrm flipH="false" flipV="false" rot="0">
            <a:off x="15594249" y="7200900"/>
            <a:ext cx="4162370" cy="4114800"/>
          </a:xfrm>
          <a:custGeom>
            <a:avLst/>
            <a:gdLst/>
            <a:ahLst/>
            <a:cxnLst/>
            <a:rect r="r" b="b" t="t" l="l"/>
            <a:pathLst>
              <a:path h="4114800" w="4162370">
                <a:moveTo>
                  <a:pt x="0" y="0"/>
                </a:moveTo>
                <a:lnTo>
                  <a:pt x="4162370" y="0"/>
                </a:lnTo>
                <a:lnTo>
                  <a:pt x="416237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2" id="32"/>
          <p:cNvSpPr/>
          <p:nvPr/>
        </p:nvSpPr>
        <p:spPr>
          <a:xfrm flipH="false" flipV="false" rot="0">
            <a:off x="296381" y="4248190"/>
            <a:ext cx="8847619" cy="520072"/>
          </a:xfrm>
          <a:custGeom>
            <a:avLst/>
            <a:gdLst/>
            <a:ahLst/>
            <a:cxnLst/>
            <a:rect r="r" b="b" t="t" l="l"/>
            <a:pathLst>
              <a:path h="520072" w="8847619">
                <a:moveTo>
                  <a:pt x="0" y="0"/>
                </a:moveTo>
                <a:lnTo>
                  <a:pt x="8847619" y="0"/>
                </a:lnTo>
                <a:lnTo>
                  <a:pt x="8847619" y="520072"/>
                </a:lnTo>
                <a:lnTo>
                  <a:pt x="0" y="520072"/>
                </a:lnTo>
                <a:lnTo>
                  <a:pt x="0" y="0"/>
                </a:lnTo>
                <a:close/>
              </a:path>
            </a:pathLst>
          </a:custGeom>
          <a:blipFill>
            <a:blip r:embed="rId5"/>
            <a:stretch>
              <a:fillRect l="-2249" t="0" r="-2249" b="0"/>
            </a:stretch>
          </a:blipFill>
        </p:spPr>
      </p:sp>
      <p:sp>
        <p:nvSpPr>
          <p:cNvPr name="Freeform 33" id="33"/>
          <p:cNvSpPr/>
          <p:nvPr/>
        </p:nvSpPr>
        <p:spPr>
          <a:xfrm flipH="false" flipV="false" rot="0">
            <a:off x="296381" y="6717669"/>
            <a:ext cx="8847619" cy="962179"/>
          </a:xfrm>
          <a:custGeom>
            <a:avLst/>
            <a:gdLst/>
            <a:ahLst/>
            <a:cxnLst/>
            <a:rect r="r" b="b" t="t" l="l"/>
            <a:pathLst>
              <a:path h="962179" w="8847619">
                <a:moveTo>
                  <a:pt x="0" y="0"/>
                </a:moveTo>
                <a:lnTo>
                  <a:pt x="8847619" y="0"/>
                </a:lnTo>
                <a:lnTo>
                  <a:pt x="8847619" y="962178"/>
                </a:lnTo>
                <a:lnTo>
                  <a:pt x="0" y="962178"/>
                </a:lnTo>
                <a:lnTo>
                  <a:pt x="0" y="0"/>
                </a:lnTo>
                <a:close/>
              </a:path>
            </a:pathLst>
          </a:custGeom>
          <a:blipFill>
            <a:blip r:embed="rId6"/>
            <a:stretch>
              <a:fillRect l="0" t="0" r="0" b="0"/>
            </a:stretch>
          </a:blipFill>
        </p:spPr>
      </p:sp>
      <p:sp>
        <p:nvSpPr>
          <p:cNvPr name="Freeform 34" id="34"/>
          <p:cNvSpPr/>
          <p:nvPr/>
        </p:nvSpPr>
        <p:spPr>
          <a:xfrm flipH="false" flipV="false" rot="0">
            <a:off x="9456632" y="4122743"/>
            <a:ext cx="8655822" cy="660006"/>
          </a:xfrm>
          <a:custGeom>
            <a:avLst/>
            <a:gdLst/>
            <a:ahLst/>
            <a:cxnLst/>
            <a:rect r="r" b="b" t="t" l="l"/>
            <a:pathLst>
              <a:path h="660006" w="8655822">
                <a:moveTo>
                  <a:pt x="0" y="0"/>
                </a:moveTo>
                <a:lnTo>
                  <a:pt x="8655822" y="0"/>
                </a:lnTo>
                <a:lnTo>
                  <a:pt x="8655822" y="660007"/>
                </a:lnTo>
                <a:lnTo>
                  <a:pt x="0" y="660007"/>
                </a:lnTo>
                <a:lnTo>
                  <a:pt x="0" y="0"/>
                </a:lnTo>
                <a:close/>
              </a:path>
            </a:pathLst>
          </a:custGeom>
          <a:blipFill>
            <a:blip r:embed="rId7"/>
            <a:stretch>
              <a:fillRect l="0" t="0" r="0" b="0"/>
            </a:stretch>
          </a:blipFill>
        </p:spPr>
      </p:sp>
      <p:sp>
        <p:nvSpPr>
          <p:cNvPr name="Freeform 35" id="35"/>
          <p:cNvSpPr/>
          <p:nvPr/>
        </p:nvSpPr>
        <p:spPr>
          <a:xfrm flipH="false" flipV="false" rot="0">
            <a:off x="9635484" y="6717669"/>
            <a:ext cx="7489818" cy="880054"/>
          </a:xfrm>
          <a:custGeom>
            <a:avLst/>
            <a:gdLst/>
            <a:ahLst/>
            <a:cxnLst/>
            <a:rect r="r" b="b" t="t" l="l"/>
            <a:pathLst>
              <a:path h="880054" w="7489818">
                <a:moveTo>
                  <a:pt x="0" y="0"/>
                </a:moveTo>
                <a:lnTo>
                  <a:pt x="7489818" y="0"/>
                </a:lnTo>
                <a:lnTo>
                  <a:pt x="7489818" y="880053"/>
                </a:lnTo>
                <a:lnTo>
                  <a:pt x="0" y="880053"/>
                </a:lnTo>
                <a:lnTo>
                  <a:pt x="0" y="0"/>
                </a:lnTo>
                <a:close/>
              </a:path>
            </a:pathLst>
          </a:custGeom>
          <a:blipFill>
            <a:blip r:embed="rId8"/>
            <a:stretch>
              <a:fillRect l="0" t="0" r="0" b="0"/>
            </a:stretch>
          </a:blipFill>
        </p:spPr>
      </p:sp>
      <p:sp>
        <p:nvSpPr>
          <p:cNvPr name="TextBox 36" id="36"/>
          <p:cNvSpPr txBox="true"/>
          <p:nvPr/>
        </p:nvSpPr>
        <p:spPr>
          <a:xfrm rot="0">
            <a:off x="4503457" y="634589"/>
            <a:ext cx="9281086" cy="892997"/>
          </a:xfrm>
          <a:prstGeom prst="rect">
            <a:avLst/>
          </a:prstGeom>
        </p:spPr>
        <p:txBody>
          <a:bodyPr anchor="t" rtlCol="false" tIns="0" lIns="0" bIns="0" rIns="0">
            <a:spAutoFit/>
          </a:bodyPr>
          <a:lstStyle/>
          <a:p>
            <a:pPr algn="ctr">
              <a:lnSpc>
                <a:spcPts val="6875"/>
              </a:lnSpc>
            </a:pPr>
            <a:r>
              <a:rPr lang="en-US" sz="6610">
                <a:solidFill>
                  <a:srgbClr val="FFFFFF"/>
                </a:solidFill>
                <a:latin typeface="Anton"/>
                <a:ea typeface="Anton"/>
                <a:cs typeface="Anton"/>
                <a:sym typeface="Anton"/>
              </a:rPr>
              <a:t>PENANGANAN MISSING VALUE</a:t>
            </a:r>
          </a:p>
        </p:txBody>
      </p:sp>
      <p:sp>
        <p:nvSpPr>
          <p:cNvPr name="TextBox 37" id="37"/>
          <p:cNvSpPr txBox="true"/>
          <p:nvPr/>
        </p:nvSpPr>
        <p:spPr>
          <a:xfrm rot="0">
            <a:off x="1636520" y="3043869"/>
            <a:ext cx="3762608" cy="487751"/>
          </a:xfrm>
          <a:prstGeom prst="rect">
            <a:avLst/>
          </a:prstGeom>
        </p:spPr>
        <p:txBody>
          <a:bodyPr anchor="t" rtlCol="false" tIns="0" lIns="0" bIns="0" rIns="0">
            <a:spAutoFit/>
          </a:bodyPr>
          <a:lstStyle/>
          <a:p>
            <a:pPr algn="l">
              <a:lnSpc>
                <a:spcPts val="3440"/>
              </a:lnSpc>
            </a:pPr>
            <a:r>
              <a:rPr lang="en-US" sz="2567">
                <a:solidFill>
                  <a:srgbClr val="FFFFFF"/>
                </a:solidFill>
                <a:latin typeface="Agrandir"/>
                <a:ea typeface="Agrandir"/>
                <a:cs typeface="Agrandir"/>
                <a:sym typeface="Agrandir"/>
              </a:rPr>
              <a:t>Konversi Tanggal Lahir</a:t>
            </a:r>
          </a:p>
        </p:txBody>
      </p:sp>
      <p:sp>
        <p:nvSpPr>
          <p:cNvPr name="TextBox 38" id="38"/>
          <p:cNvSpPr txBox="true"/>
          <p:nvPr/>
        </p:nvSpPr>
        <p:spPr>
          <a:xfrm rot="0">
            <a:off x="485679" y="3034344"/>
            <a:ext cx="797349" cy="525150"/>
          </a:xfrm>
          <a:prstGeom prst="rect">
            <a:avLst/>
          </a:prstGeom>
        </p:spPr>
        <p:txBody>
          <a:bodyPr anchor="t" rtlCol="false" tIns="0" lIns="0" bIns="0" rIns="0">
            <a:spAutoFit/>
          </a:bodyPr>
          <a:lstStyle/>
          <a:p>
            <a:pPr algn="l">
              <a:lnSpc>
                <a:spcPts val="3690"/>
              </a:lnSpc>
            </a:pPr>
            <a:r>
              <a:rPr lang="en-US" sz="2754" b="true">
                <a:solidFill>
                  <a:srgbClr val="FFFFFF"/>
                </a:solidFill>
                <a:latin typeface="Agrandir Bold"/>
                <a:ea typeface="Agrandir Bold"/>
                <a:cs typeface="Agrandir Bold"/>
                <a:sym typeface="Agrandir Bold"/>
              </a:rPr>
              <a:t>01.</a:t>
            </a:r>
          </a:p>
        </p:txBody>
      </p:sp>
      <p:sp>
        <p:nvSpPr>
          <p:cNvPr name="TextBox 39" id="39"/>
          <p:cNvSpPr txBox="true"/>
          <p:nvPr/>
        </p:nvSpPr>
        <p:spPr>
          <a:xfrm rot="0">
            <a:off x="1722245" y="5570551"/>
            <a:ext cx="4606741" cy="1137506"/>
          </a:xfrm>
          <a:prstGeom prst="rect">
            <a:avLst/>
          </a:prstGeom>
        </p:spPr>
        <p:txBody>
          <a:bodyPr anchor="t" rtlCol="false" tIns="0" lIns="0" bIns="0" rIns="0">
            <a:spAutoFit/>
          </a:bodyPr>
          <a:lstStyle/>
          <a:p>
            <a:pPr algn="l">
              <a:lnSpc>
                <a:spcPts val="2824"/>
              </a:lnSpc>
            </a:pPr>
            <a:r>
              <a:rPr lang="en-US" sz="2567">
                <a:solidFill>
                  <a:srgbClr val="FFFFFF"/>
                </a:solidFill>
                <a:latin typeface="Agrandir"/>
                <a:ea typeface="Agrandir"/>
                <a:cs typeface="Agrandir"/>
                <a:sym typeface="Agrandir"/>
              </a:rPr>
              <a:t>Hitung usia ibu (target: 19-38 tahun</a:t>
            </a:r>
            <a:r>
              <a:rPr lang="en-US" sz="2567">
                <a:solidFill>
                  <a:srgbClr val="FFFFFF"/>
                </a:solidFill>
                <a:latin typeface="Agrandir"/>
                <a:ea typeface="Agrandir"/>
                <a:cs typeface="Agrandir"/>
                <a:sym typeface="Agrandir"/>
              </a:rPr>
              <a:t> normal)</a:t>
            </a:r>
          </a:p>
          <a:p>
            <a:pPr algn="l">
              <a:lnSpc>
                <a:spcPts val="2824"/>
              </a:lnSpc>
            </a:pPr>
          </a:p>
        </p:txBody>
      </p:sp>
      <p:sp>
        <p:nvSpPr>
          <p:cNvPr name="TextBox 40" id="40"/>
          <p:cNvSpPr txBox="true"/>
          <p:nvPr/>
        </p:nvSpPr>
        <p:spPr>
          <a:xfrm rot="0">
            <a:off x="571404" y="5657789"/>
            <a:ext cx="797349" cy="525150"/>
          </a:xfrm>
          <a:prstGeom prst="rect">
            <a:avLst/>
          </a:prstGeom>
        </p:spPr>
        <p:txBody>
          <a:bodyPr anchor="t" rtlCol="false" tIns="0" lIns="0" bIns="0" rIns="0">
            <a:spAutoFit/>
          </a:bodyPr>
          <a:lstStyle/>
          <a:p>
            <a:pPr algn="l">
              <a:lnSpc>
                <a:spcPts val="3690"/>
              </a:lnSpc>
            </a:pPr>
            <a:r>
              <a:rPr lang="en-US" sz="2754" b="true">
                <a:solidFill>
                  <a:srgbClr val="FFFFFF"/>
                </a:solidFill>
                <a:latin typeface="Agrandir Bold"/>
                <a:ea typeface="Agrandir Bold"/>
                <a:cs typeface="Agrandir Bold"/>
                <a:sym typeface="Agrandir Bold"/>
              </a:rPr>
              <a:t>02.</a:t>
            </a:r>
          </a:p>
        </p:txBody>
      </p:sp>
      <p:sp>
        <p:nvSpPr>
          <p:cNvPr name="TextBox 41" id="41"/>
          <p:cNvSpPr txBox="true"/>
          <p:nvPr/>
        </p:nvSpPr>
        <p:spPr>
          <a:xfrm rot="0">
            <a:off x="10185840" y="2905871"/>
            <a:ext cx="797349" cy="525150"/>
          </a:xfrm>
          <a:prstGeom prst="rect">
            <a:avLst/>
          </a:prstGeom>
        </p:spPr>
        <p:txBody>
          <a:bodyPr anchor="t" rtlCol="false" tIns="0" lIns="0" bIns="0" rIns="0">
            <a:spAutoFit/>
          </a:bodyPr>
          <a:lstStyle/>
          <a:p>
            <a:pPr algn="l">
              <a:lnSpc>
                <a:spcPts val="3690"/>
              </a:lnSpc>
            </a:pPr>
            <a:r>
              <a:rPr lang="en-US" sz="2754" b="true">
                <a:solidFill>
                  <a:srgbClr val="FFFFFF"/>
                </a:solidFill>
                <a:latin typeface="Agrandir Bold"/>
                <a:ea typeface="Agrandir Bold"/>
                <a:cs typeface="Agrandir Bold"/>
                <a:sym typeface="Agrandir Bold"/>
              </a:rPr>
              <a:t>03.</a:t>
            </a:r>
          </a:p>
        </p:txBody>
      </p:sp>
      <p:sp>
        <p:nvSpPr>
          <p:cNvPr name="TextBox 42" id="42"/>
          <p:cNvSpPr txBox="true"/>
          <p:nvPr/>
        </p:nvSpPr>
        <p:spPr>
          <a:xfrm rot="0">
            <a:off x="10268563" y="5624652"/>
            <a:ext cx="797349" cy="525150"/>
          </a:xfrm>
          <a:prstGeom prst="rect">
            <a:avLst/>
          </a:prstGeom>
        </p:spPr>
        <p:txBody>
          <a:bodyPr anchor="t" rtlCol="false" tIns="0" lIns="0" bIns="0" rIns="0">
            <a:spAutoFit/>
          </a:bodyPr>
          <a:lstStyle/>
          <a:p>
            <a:pPr algn="l">
              <a:lnSpc>
                <a:spcPts val="3690"/>
              </a:lnSpc>
            </a:pPr>
            <a:r>
              <a:rPr lang="en-US" sz="2754" b="true">
                <a:solidFill>
                  <a:srgbClr val="FFFFFF"/>
                </a:solidFill>
                <a:latin typeface="Agrandir Bold"/>
                <a:ea typeface="Agrandir Bold"/>
                <a:cs typeface="Agrandir Bold"/>
                <a:sym typeface="Agrandir Bold"/>
              </a:rPr>
              <a:t>04.</a:t>
            </a:r>
          </a:p>
        </p:txBody>
      </p:sp>
      <p:sp>
        <p:nvSpPr>
          <p:cNvPr name="TextBox 43" id="43"/>
          <p:cNvSpPr txBox="true"/>
          <p:nvPr/>
        </p:nvSpPr>
        <p:spPr>
          <a:xfrm rot="0">
            <a:off x="11295364" y="2940197"/>
            <a:ext cx="3784683" cy="785081"/>
          </a:xfrm>
          <a:prstGeom prst="rect">
            <a:avLst/>
          </a:prstGeom>
        </p:spPr>
        <p:txBody>
          <a:bodyPr anchor="t" rtlCol="false" tIns="0" lIns="0" bIns="0" rIns="0">
            <a:spAutoFit/>
          </a:bodyPr>
          <a:lstStyle/>
          <a:p>
            <a:pPr algn="l">
              <a:lnSpc>
                <a:spcPts val="2824"/>
              </a:lnSpc>
            </a:pPr>
            <a:r>
              <a:rPr lang="en-US" sz="2567">
                <a:solidFill>
                  <a:srgbClr val="FFFFFF"/>
                </a:solidFill>
                <a:latin typeface="Agrandir"/>
                <a:ea typeface="Agrandir"/>
                <a:cs typeface="Agrandir"/>
                <a:sym typeface="Agrandir"/>
              </a:rPr>
              <a:t>Imputasi missing</a:t>
            </a:r>
            <a:r>
              <a:rPr lang="en-US" sz="2567">
                <a:solidFill>
                  <a:srgbClr val="FFFFFF"/>
                </a:solidFill>
                <a:latin typeface="Agrandir"/>
                <a:ea typeface="Agrandir"/>
                <a:cs typeface="Agrandir"/>
                <a:sym typeface="Agrandir"/>
              </a:rPr>
              <a:t> value</a:t>
            </a:r>
          </a:p>
          <a:p>
            <a:pPr algn="l">
              <a:lnSpc>
                <a:spcPts val="2824"/>
              </a:lnSpc>
            </a:pPr>
          </a:p>
        </p:txBody>
      </p:sp>
      <p:sp>
        <p:nvSpPr>
          <p:cNvPr name="TextBox 44" id="44"/>
          <p:cNvSpPr txBox="true"/>
          <p:nvPr/>
        </p:nvSpPr>
        <p:spPr>
          <a:xfrm rot="0">
            <a:off x="11359689" y="5665888"/>
            <a:ext cx="3850909" cy="785081"/>
          </a:xfrm>
          <a:prstGeom prst="rect">
            <a:avLst/>
          </a:prstGeom>
        </p:spPr>
        <p:txBody>
          <a:bodyPr anchor="t" rtlCol="false" tIns="0" lIns="0" bIns="0" rIns="0">
            <a:spAutoFit/>
          </a:bodyPr>
          <a:lstStyle/>
          <a:p>
            <a:pPr algn="l">
              <a:lnSpc>
                <a:spcPts val="2824"/>
              </a:lnSpc>
            </a:pPr>
            <a:r>
              <a:rPr lang="en-US" sz="2567">
                <a:solidFill>
                  <a:srgbClr val="FFFFFF"/>
                </a:solidFill>
                <a:latin typeface="Agrandir"/>
                <a:ea typeface="Agrandir"/>
                <a:cs typeface="Agrandir"/>
                <a:sym typeface="Agrandir"/>
              </a:rPr>
              <a:t>Handle</a:t>
            </a:r>
            <a:r>
              <a:rPr lang="en-US" sz="2567">
                <a:solidFill>
                  <a:srgbClr val="FFFFFF"/>
                </a:solidFill>
                <a:latin typeface="Agrandir"/>
                <a:ea typeface="Agrandir"/>
                <a:cs typeface="Agrandir"/>
                <a:sym typeface="Agrandir"/>
              </a:rPr>
              <a:t> missing tindakan</a:t>
            </a:r>
          </a:p>
          <a:p>
            <a:pPr algn="l">
              <a:lnSpc>
                <a:spcPts val="2824"/>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grpSp>
        <p:nvGrpSpPr>
          <p:cNvPr name="Group 6" id="6"/>
          <p:cNvGrpSpPr/>
          <p:nvPr/>
        </p:nvGrpSpPr>
        <p:grpSpPr>
          <a:xfrm rot="0">
            <a:off x="201131" y="2296981"/>
            <a:ext cx="7128309" cy="989754"/>
            <a:chOff x="0" y="0"/>
            <a:chExt cx="1750043" cy="242991"/>
          </a:xfrm>
        </p:grpSpPr>
        <p:sp>
          <p:nvSpPr>
            <p:cNvPr name="Freeform 7" id="7"/>
            <p:cNvSpPr/>
            <p:nvPr/>
          </p:nvSpPr>
          <p:spPr>
            <a:xfrm flipH="false" flipV="false" rot="0">
              <a:off x="0" y="0"/>
              <a:ext cx="1750043" cy="242991"/>
            </a:xfrm>
            <a:custGeom>
              <a:avLst/>
              <a:gdLst/>
              <a:ahLst/>
              <a:cxnLst/>
              <a:rect r="r" b="b" t="t" l="l"/>
              <a:pathLst>
                <a:path h="242991" w="1750043">
                  <a:moveTo>
                    <a:pt x="108608" y="0"/>
                  </a:moveTo>
                  <a:lnTo>
                    <a:pt x="1641435" y="0"/>
                  </a:lnTo>
                  <a:cubicBezTo>
                    <a:pt x="1670240" y="0"/>
                    <a:pt x="1697865" y="11443"/>
                    <a:pt x="1718233" y="31811"/>
                  </a:cubicBezTo>
                  <a:cubicBezTo>
                    <a:pt x="1738601" y="52179"/>
                    <a:pt x="1750043" y="79803"/>
                    <a:pt x="1750043" y="108608"/>
                  </a:cubicBezTo>
                  <a:lnTo>
                    <a:pt x="1750043" y="134383"/>
                  </a:lnTo>
                  <a:cubicBezTo>
                    <a:pt x="1750043" y="163187"/>
                    <a:pt x="1738601" y="190812"/>
                    <a:pt x="1718233" y="211180"/>
                  </a:cubicBezTo>
                  <a:cubicBezTo>
                    <a:pt x="1697865" y="231548"/>
                    <a:pt x="1670240" y="242991"/>
                    <a:pt x="1641435" y="242991"/>
                  </a:cubicBezTo>
                  <a:lnTo>
                    <a:pt x="108608" y="242991"/>
                  </a:lnTo>
                  <a:cubicBezTo>
                    <a:pt x="48625" y="242991"/>
                    <a:pt x="0" y="194365"/>
                    <a:pt x="0" y="134383"/>
                  </a:cubicBezTo>
                  <a:lnTo>
                    <a:pt x="0" y="108608"/>
                  </a:lnTo>
                  <a:cubicBezTo>
                    <a:pt x="0" y="79803"/>
                    <a:pt x="11443" y="52179"/>
                    <a:pt x="31811" y="31811"/>
                  </a:cubicBezTo>
                  <a:cubicBezTo>
                    <a:pt x="52179" y="11443"/>
                    <a:pt x="79803" y="0"/>
                    <a:pt x="108608" y="0"/>
                  </a:cubicBezTo>
                  <a:close/>
                </a:path>
              </a:pathLst>
            </a:custGeom>
            <a:gradFill rotWithShape="true">
              <a:gsLst>
                <a:gs pos="0">
                  <a:srgbClr val="0C2756">
                    <a:alpha val="100000"/>
                  </a:srgbClr>
                </a:gs>
                <a:gs pos="100000">
                  <a:srgbClr val="1E527D">
                    <a:alpha val="100000"/>
                  </a:srgbClr>
                </a:gs>
              </a:gsLst>
              <a:lin ang="0"/>
            </a:gradFill>
          </p:spPr>
        </p:sp>
        <p:sp>
          <p:nvSpPr>
            <p:cNvPr name="TextBox 8" id="8"/>
            <p:cNvSpPr txBox="true"/>
            <p:nvPr/>
          </p:nvSpPr>
          <p:spPr>
            <a:xfrm>
              <a:off x="0" y="-28575"/>
              <a:ext cx="1750043" cy="271566"/>
            </a:xfrm>
            <a:prstGeom prst="rect">
              <a:avLst/>
            </a:prstGeom>
          </p:spPr>
          <p:txBody>
            <a:bodyPr anchor="ctr" rtlCol="false" tIns="50800" lIns="50800" bIns="50800" rIns="50800"/>
            <a:lstStyle/>
            <a:p>
              <a:pPr algn="ctr">
                <a:lnSpc>
                  <a:spcPts val="2126"/>
                </a:lnSpc>
              </a:pPr>
            </a:p>
          </p:txBody>
        </p:sp>
      </p:grpSp>
      <p:grpSp>
        <p:nvGrpSpPr>
          <p:cNvPr name="Group 9" id="9"/>
          <p:cNvGrpSpPr/>
          <p:nvPr/>
        </p:nvGrpSpPr>
        <p:grpSpPr>
          <a:xfrm rot="0">
            <a:off x="201131" y="2296981"/>
            <a:ext cx="1081897" cy="989754"/>
            <a:chOff x="0" y="0"/>
            <a:chExt cx="265612" cy="242991"/>
          </a:xfrm>
        </p:grpSpPr>
        <p:sp>
          <p:nvSpPr>
            <p:cNvPr name="Freeform 10" id="10"/>
            <p:cNvSpPr/>
            <p:nvPr/>
          </p:nvSpPr>
          <p:spPr>
            <a:xfrm flipH="false" flipV="false" rot="0">
              <a:off x="0" y="0"/>
              <a:ext cx="265612" cy="242991"/>
            </a:xfrm>
            <a:custGeom>
              <a:avLst/>
              <a:gdLst/>
              <a:ahLst/>
              <a:cxnLst/>
              <a:rect r="r" b="b" t="t" l="l"/>
              <a:pathLst>
                <a:path h="242991" w="265612">
                  <a:moveTo>
                    <a:pt x="121495" y="0"/>
                  </a:moveTo>
                  <a:lnTo>
                    <a:pt x="144117" y="0"/>
                  </a:lnTo>
                  <a:cubicBezTo>
                    <a:pt x="211217" y="0"/>
                    <a:pt x="265612" y="54395"/>
                    <a:pt x="265612" y="121495"/>
                  </a:cubicBezTo>
                  <a:lnTo>
                    <a:pt x="265612" y="121495"/>
                  </a:lnTo>
                  <a:cubicBezTo>
                    <a:pt x="265612" y="153718"/>
                    <a:pt x="252812" y="184621"/>
                    <a:pt x="230027" y="207406"/>
                  </a:cubicBezTo>
                  <a:cubicBezTo>
                    <a:pt x="207242" y="230190"/>
                    <a:pt x="176340" y="242991"/>
                    <a:pt x="144117" y="242991"/>
                  </a:cubicBezTo>
                  <a:lnTo>
                    <a:pt x="121495" y="242991"/>
                  </a:lnTo>
                  <a:cubicBezTo>
                    <a:pt x="89273" y="242991"/>
                    <a:pt x="58370" y="230190"/>
                    <a:pt x="35585" y="207406"/>
                  </a:cubicBezTo>
                  <a:cubicBezTo>
                    <a:pt x="12800" y="184621"/>
                    <a:pt x="0" y="153718"/>
                    <a:pt x="0" y="121495"/>
                  </a:cubicBezTo>
                  <a:lnTo>
                    <a:pt x="0" y="121495"/>
                  </a:lnTo>
                  <a:cubicBezTo>
                    <a:pt x="0" y="89273"/>
                    <a:pt x="12800" y="58370"/>
                    <a:pt x="35585" y="35585"/>
                  </a:cubicBezTo>
                  <a:cubicBezTo>
                    <a:pt x="58370" y="12800"/>
                    <a:pt x="89273" y="0"/>
                    <a:pt x="121495" y="0"/>
                  </a:cubicBezTo>
                  <a:close/>
                </a:path>
              </a:pathLst>
            </a:custGeom>
            <a:gradFill rotWithShape="true">
              <a:gsLst>
                <a:gs pos="0">
                  <a:srgbClr val="00B3FF">
                    <a:alpha val="100000"/>
                  </a:srgbClr>
                </a:gs>
                <a:gs pos="100000">
                  <a:srgbClr val="3A459B">
                    <a:alpha val="100000"/>
                  </a:srgbClr>
                </a:gs>
              </a:gsLst>
              <a:lin ang="0"/>
            </a:gradFill>
          </p:spPr>
        </p:sp>
        <p:sp>
          <p:nvSpPr>
            <p:cNvPr name="TextBox 11" id="11"/>
            <p:cNvSpPr txBox="true"/>
            <p:nvPr/>
          </p:nvSpPr>
          <p:spPr>
            <a:xfrm>
              <a:off x="0" y="-28575"/>
              <a:ext cx="265612" cy="271566"/>
            </a:xfrm>
            <a:prstGeom prst="rect">
              <a:avLst/>
            </a:prstGeom>
          </p:spPr>
          <p:txBody>
            <a:bodyPr anchor="ctr" rtlCol="false" tIns="50800" lIns="50800" bIns="50800" rIns="50800"/>
            <a:lstStyle/>
            <a:p>
              <a:pPr algn="ctr">
                <a:lnSpc>
                  <a:spcPts val="2126"/>
                </a:lnSpc>
              </a:pPr>
            </a:p>
          </p:txBody>
        </p:sp>
      </p:grpSp>
      <p:sp>
        <p:nvSpPr>
          <p:cNvPr name="Freeform 12" id="12"/>
          <p:cNvSpPr/>
          <p:nvPr/>
        </p:nvSpPr>
        <p:spPr>
          <a:xfrm flipH="false" flipV="false" rot="0">
            <a:off x="-1669211" y="-2057400"/>
            <a:ext cx="4162370" cy="4114800"/>
          </a:xfrm>
          <a:custGeom>
            <a:avLst/>
            <a:gdLst/>
            <a:ahLst/>
            <a:cxnLst/>
            <a:rect r="r" b="b" t="t" l="l"/>
            <a:pathLst>
              <a:path h="4114800" w="4162370">
                <a:moveTo>
                  <a:pt x="0" y="0"/>
                </a:moveTo>
                <a:lnTo>
                  <a:pt x="4162370" y="0"/>
                </a:lnTo>
                <a:lnTo>
                  <a:pt x="416237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5594249" y="7200900"/>
            <a:ext cx="4162370" cy="4114800"/>
          </a:xfrm>
          <a:custGeom>
            <a:avLst/>
            <a:gdLst/>
            <a:ahLst/>
            <a:cxnLst/>
            <a:rect r="r" b="b" t="t" l="l"/>
            <a:pathLst>
              <a:path h="4114800" w="4162370">
                <a:moveTo>
                  <a:pt x="0" y="0"/>
                </a:moveTo>
                <a:lnTo>
                  <a:pt x="4162370" y="0"/>
                </a:lnTo>
                <a:lnTo>
                  <a:pt x="416237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7945298" y="2235439"/>
            <a:ext cx="9926150" cy="6377552"/>
          </a:xfrm>
          <a:custGeom>
            <a:avLst/>
            <a:gdLst/>
            <a:ahLst/>
            <a:cxnLst/>
            <a:rect r="r" b="b" t="t" l="l"/>
            <a:pathLst>
              <a:path h="6377552" w="9926150">
                <a:moveTo>
                  <a:pt x="0" y="0"/>
                </a:moveTo>
                <a:lnTo>
                  <a:pt x="9926150" y="0"/>
                </a:lnTo>
                <a:lnTo>
                  <a:pt x="9926150" y="6377551"/>
                </a:lnTo>
                <a:lnTo>
                  <a:pt x="0" y="6377551"/>
                </a:lnTo>
                <a:lnTo>
                  <a:pt x="0" y="0"/>
                </a:lnTo>
                <a:close/>
              </a:path>
            </a:pathLst>
          </a:custGeom>
          <a:blipFill>
            <a:blip r:embed="rId5"/>
            <a:stretch>
              <a:fillRect l="0" t="0" r="0" b="0"/>
            </a:stretch>
          </a:blipFill>
        </p:spPr>
      </p:sp>
      <p:sp>
        <p:nvSpPr>
          <p:cNvPr name="TextBox 15" id="15"/>
          <p:cNvSpPr txBox="true"/>
          <p:nvPr/>
        </p:nvSpPr>
        <p:spPr>
          <a:xfrm rot="0">
            <a:off x="3870707" y="634589"/>
            <a:ext cx="10587614" cy="892997"/>
          </a:xfrm>
          <a:prstGeom prst="rect">
            <a:avLst/>
          </a:prstGeom>
        </p:spPr>
        <p:txBody>
          <a:bodyPr anchor="t" rtlCol="false" tIns="0" lIns="0" bIns="0" rIns="0">
            <a:spAutoFit/>
          </a:bodyPr>
          <a:lstStyle/>
          <a:p>
            <a:pPr algn="ctr">
              <a:lnSpc>
                <a:spcPts val="6875"/>
              </a:lnSpc>
            </a:pPr>
            <a:r>
              <a:rPr lang="en-US" sz="6610">
                <a:solidFill>
                  <a:srgbClr val="FFFFFF"/>
                </a:solidFill>
                <a:latin typeface="Anton"/>
                <a:ea typeface="Anton"/>
                <a:cs typeface="Anton"/>
                <a:sym typeface="Anton"/>
              </a:rPr>
              <a:t>NOISE &amp; OUTLIER HANDLING</a:t>
            </a:r>
          </a:p>
        </p:txBody>
      </p:sp>
      <p:sp>
        <p:nvSpPr>
          <p:cNvPr name="TextBox 16" id="16"/>
          <p:cNvSpPr txBox="true"/>
          <p:nvPr/>
        </p:nvSpPr>
        <p:spPr>
          <a:xfrm rot="0">
            <a:off x="1636520" y="2481658"/>
            <a:ext cx="5482078" cy="916376"/>
          </a:xfrm>
          <a:prstGeom prst="rect">
            <a:avLst/>
          </a:prstGeom>
        </p:spPr>
        <p:txBody>
          <a:bodyPr anchor="t" rtlCol="false" tIns="0" lIns="0" bIns="0" rIns="0">
            <a:spAutoFit/>
          </a:bodyPr>
          <a:lstStyle/>
          <a:p>
            <a:pPr algn="l">
              <a:lnSpc>
                <a:spcPts val="3440"/>
              </a:lnSpc>
            </a:pPr>
            <a:r>
              <a:rPr lang="en-US" sz="2567">
                <a:solidFill>
                  <a:srgbClr val="FFFFFF"/>
                </a:solidFill>
                <a:latin typeface="Agrandir"/>
                <a:ea typeface="Agrandir"/>
                <a:cs typeface="Agrandir"/>
                <a:sym typeface="Agrandir"/>
              </a:rPr>
              <a:t>Metode IQR (Interquartile Range)</a:t>
            </a:r>
          </a:p>
          <a:p>
            <a:pPr algn="l">
              <a:lnSpc>
                <a:spcPts val="3440"/>
              </a:lnSpc>
            </a:pPr>
          </a:p>
        </p:txBody>
      </p:sp>
      <p:sp>
        <p:nvSpPr>
          <p:cNvPr name="TextBox 17" id="17"/>
          <p:cNvSpPr txBox="true"/>
          <p:nvPr/>
        </p:nvSpPr>
        <p:spPr>
          <a:xfrm rot="0">
            <a:off x="411974" y="4036210"/>
            <a:ext cx="6917467" cy="2123275"/>
          </a:xfrm>
          <a:prstGeom prst="rect">
            <a:avLst/>
          </a:prstGeom>
        </p:spPr>
        <p:txBody>
          <a:bodyPr anchor="t" rtlCol="false" tIns="0" lIns="0" bIns="0" rIns="0">
            <a:spAutoFit/>
          </a:bodyPr>
          <a:lstStyle/>
          <a:p>
            <a:pPr algn="l">
              <a:lnSpc>
                <a:spcPts val="3310"/>
              </a:lnSpc>
            </a:pPr>
            <a:r>
              <a:rPr lang="en-US" sz="2470">
                <a:solidFill>
                  <a:srgbClr val="050056"/>
                </a:solidFill>
                <a:latin typeface="Agrandir"/>
                <a:ea typeface="Agrandir"/>
                <a:cs typeface="Agrandir"/>
                <a:sym typeface="Agrandir"/>
              </a:rPr>
              <a:t>mendeteksi dan menangani nilai-nilai anomali (outlier) dalam dataset menggunakan metode IQR (Interquartile Range).Ketika outlier ditemukan, data tidak dihapus tetapi diganti (dicap) dengan nilai batas.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sp>
        <p:nvSpPr>
          <p:cNvPr name="Freeform 6" id="6"/>
          <p:cNvSpPr/>
          <p:nvPr/>
        </p:nvSpPr>
        <p:spPr>
          <a:xfrm flipH="false" flipV="false" rot="0">
            <a:off x="0" y="-853209"/>
            <a:ext cx="3690249" cy="3648075"/>
          </a:xfrm>
          <a:custGeom>
            <a:avLst/>
            <a:gdLst/>
            <a:ahLst/>
            <a:cxnLst/>
            <a:rect r="r" b="b" t="t" l="l"/>
            <a:pathLst>
              <a:path h="3648075" w="3690249">
                <a:moveTo>
                  <a:pt x="0" y="0"/>
                </a:moveTo>
                <a:lnTo>
                  <a:pt x="3690249" y="0"/>
                </a:lnTo>
                <a:lnTo>
                  <a:pt x="3690249" y="3648075"/>
                </a:lnTo>
                <a:lnTo>
                  <a:pt x="0" y="36480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646734" y="5435446"/>
            <a:ext cx="4162370" cy="4114800"/>
          </a:xfrm>
          <a:custGeom>
            <a:avLst/>
            <a:gdLst/>
            <a:ahLst/>
            <a:cxnLst/>
            <a:rect r="r" b="b" t="t" l="l"/>
            <a:pathLst>
              <a:path h="4114800" w="4162370">
                <a:moveTo>
                  <a:pt x="0" y="0"/>
                </a:moveTo>
                <a:lnTo>
                  <a:pt x="4162370" y="0"/>
                </a:lnTo>
                <a:lnTo>
                  <a:pt x="416237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0">
            <a:off x="3487824" y="3378046"/>
            <a:ext cx="12011780" cy="2342297"/>
          </a:xfrm>
          <a:custGeom>
            <a:avLst/>
            <a:gdLst/>
            <a:ahLst/>
            <a:cxnLst/>
            <a:rect r="r" b="b" t="t" l="l"/>
            <a:pathLst>
              <a:path h="2342297" w="12011780">
                <a:moveTo>
                  <a:pt x="0" y="0"/>
                </a:moveTo>
                <a:lnTo>
                  <a:pt x="12011780" y="0"/>
                </a:lnTo>
                <a:lnTo>
                  <a:pt x="12011780" y="2342297"/>
                </a:lnTo>
                <a:lnTo>
                  <a:pt x="0" y="2342297"/>
                </a:lnTo>
                <a:lnTo>
                  <a:pt x="0" y="0"/>
                </a:lnTo>
                <a:close/>
              </a:path>
            </a:pathLst>
          </a:custGeom>
          <a:blipFill>
            <a:blip r:embed="rId5"/>
            <a:stretch>
              <a:fillRect l="0" t="0" r="0" b="0"/>
            </a:stretch>
          </a:blipFill>
        </p:spPr>
      </p:sp>
      <p:sp>
        <p:nvSpPr>
          <p:cNvPr name="Freeform 9" id="9"/>
          <p:cNvSpPr/>
          <p:nvPr/>
        </p:nvSpPr>
        <p:spPr>
          <a:xfrm flipH="false" flipV="false" rot="0">
            <a:off x="3487824" y="6072775"/>
            <a:ext cx="12105416" cy="2118448"/>
          </a:xfrm>
          <a:custGeom>
            <a:avLst/>
            <a:gdLst/>
            <a:ahLst/>
            <a:cxnLst/>
            <a:rect r="r" b="b" t="t" l="l"/>
            <a:pathLst>
              <a:path h="2118448" w="12105416">
                <a:moveTo>
                  <a:pt x="0" y="0"/>
                </a:moveTo>
                <a:lnTo>
                  <a:pt x="12105417" y="0"/>
                </a:lnTo>
                <a:lnTo>
                  <a:pt x="12105417" y="2118448"/>
                </a:lnTo>
                <a:lnTo>
                  <a:pt x="0" y="2118448"/>
                </a:lnTo>
                <a:lnTo>
                  <a:pt x="0" y="0"/>
                </a:lnTo>
                <a:close/>
              </a:path>
            </a:pathLst>
          </a:custGeom>
          <a:blipFill>
            <a:blip r:embed="rId6"/>
            <a:stretch>
              <a:fillRect l="0" t="0" r="0" b="0"/>
            </a:stretch>
          </a:blipFill>
        </p:spPr>
      </p:sp>
      <p:sp>
        <p:nvSpPr>
          <p:cNvPr name="TextBox 10" id="10"/>
          <p:cNvSpPr txBox="true"/>
          <p:nvPr/>
        </p:nvSpPr>
        <p:spPr>
          <a:xfrm rot="0">
            <a:off x="4246725" y="676730"/>
            <a:ext cx="10587614" cy="892997"/>
          </a:xfrm>
          <a:prstGeom prst="rect">
            <a:avLst/>
          </a:prstGeom>
        </p:spPr>
        <p:txBody>
          <a:bodyPr anchor="t" rtlCol="false" tIns="0" lIns="0" bIns="0" rIns="0">
            <a:spAutoFit/>
          </a:bodyPr>
          <a:lstStyle/>
          <a:p>
            <a:pPr algn="ctr">
              <a:lnSpc>
                <a:spcPts val="6875"/>
              </a:lnSpc>
            </a:pPr>
            <a:r>
              <a:rPr lang="en-US" sz="6610">
                <a:solidFill>
                  <a:srgbClr val="FFFFFF"/>
                </a:solidFill>
                <a:latin typeface="Anton"/>
                <a:ea typeface="Anton"/>
                <a:cs typeface="Anton"/>
                <a:sym typeface="Anton"/>
              </a:rPr>
              <a:t>HANDLING IMBALANCE</a:t>
            </a:r>
          </a:p>
        </p:txBody>
      </p:sp>
      <p:sp>
        <p:nvSpPr>
          <p:cNvPr name="TextBox 11" id="11"/>
          <p:cNvSpPr txBox="true"/>
          <p:nvPr/>
        </p:nvSpPr>
        <p:spPr>
          <a:xfrm rot="0">
            <a:off x="2857437" y="1887084"/>
            <a:ext cx="13366192" cy="1710789"/>
          </a:xfrm>
          <a:prstGeom prst="rect">
            <a:avLst/>
          </a:prstGeom>
        </p:spPr>
        <p:txBody>
          <a:bodyPr anchor="t" rtlCol="false" tIns="0" lIns="0" bIns="0" rIns="0">
            <a:spAutoFit/>
          </a:bodyPr>
          <a:lstStyle/>
          <a:p>
            <a:pPr algn="l">
              <a:lnSpc>
                <a:spcPts val="3310"/>
              </a:lnSpc>
            </a:pPr>
            <a:r>
              <a:rPr lang="en-US" sz="2470">
                <a:solidFill>
                  <a:srgbClr val="050056"/>
                </a:solidFill>
                <a:latin typeface="Agrandir"/>
                <a:ea typeface="Agrandir"/>
                <a:cs typeface="Agrandir"/>
                <a:sym typeface="Agrandir"/>
              </a:rPr>
              <a:t>Metode Oversampling (Random Resampling)</a:t>
            </a:r>
          </a:p>
          <a:p>
            <a:pPr algn="l">
              <a:lnSpc>
                <a:spcPts val="3310"/>
              </a:lnSpc>
            </a:pPr>
          </a:p>
          <a:p>
            <a:pPr algn="l">
              <a:lnSpc>
                <a:spcPts val="3310"/>
              </a:lnSpc>
            </a:pPr>
            <a:r>
              <a:rPr lang="en-US" sz="2470">
                <a:solidFill>
                  <a:srgbClr val="050056"/>
                </a:solidFill>
                <a:latin typeface="Agrandir"/>
                <a:ea typeface="Agrandir"/>
                <a:cs typeface="Agrandir"/>
                <a:sym typeface="Agrandir"/>
              </a:rPr>
              <a:t>Dengan Semua kelas = 3,202 sampel (kelas terbanyak)</a:t>
            </a:r>
          </a:p>
          <a:p>
            <a:pPr algn="l">
              <a:lnSpc>
                <a:spcPts val="331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sp>
        <p:nvSpPr>
          <p:cNvPr name="Freeform 6" id="6"/>
          <p:cNvSpPr/>
          <p:nvPr/>
        </p:nvSpPr>
        <p:spPr>
          <a:xfrm flipH="false" flipV="false" rot="0">
            <a:off x="-1052485" y="-327161"/>
            <a:ext cx="3690249" cy="3648075"/>
          </a:xfrm>
          <a:custGeom>
            <a:avLst/>
            <a:gdLst/>
            <a:ahLst/>
            <a:cxnLst/>
            <a:rect r="r" b="b" t="t" l="l"/>
            <a:pathLst>
              <a:path h="3648075" w="3690249">
                <a:moveTo>
                  <a:pt x="0" y="0"/>
                </a:moveTo>
                <a:lnTo>
                  <a:pt x="3690249" y="0"/>
                </a:lnTo>
                <a:lnTo>
                  <a:pt x="3690249" y="3648075"/>
                </a:lnTo>
                <a:lnTo>
                  <a:pt x="0" y="36480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5594249" y="7200900"/>
            <a:ext cx="4162370" cy="4114800"/>
          </a:xfrm>
          <a:custGeom>
            <a:avLst/>
            <a:gdLst/>
            <a:ahLst/>
            <a:cxnLst/>
            <a:rect r="r" b="b" t="t" l="l"/>
            <a:pathLst>
              <a:path h="4114800" w="4162370">
                <a:moveTo>
                  <a:pt x="0" y="0"/>
                </a:moveTo>
                <a:lnTo>
                  <a:pt x="4162370" y="0"/>
                </a:lnTo>
                <a:lnTo>
                  <a:pt x="416237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Object 8" id="8"/>
          <p:cNvGraphicFramePr/>
          <p:nvPr/>
        </p:nvGraphicFramePr>
        <p:xfrm>
          <a:off x="3303151" y="2276972"/>
          <a:ext cx="14937229" cy="3767658"/>
        </p:xfrm>
        <a:graphic>
          <a:graphicData uri="http://schemas.openxmlformats.org/presentationml/2006/ole">
            <p:oleObj imgW="17919700" imgH="67437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TextBox 9" id="9"/>
          <p:cNvSpPr txBox="true"/>
          <p:nvPr/>
        </p:nvSpPr>
        <p:spPr>
          <a:xfrm rot="0">
            <a:off x="3850193" y="521496"/>
            <a:ext cx="10587614" cy="892997"/>
          </a:xfrm>
          <a:prstGeom prst="rect">
            <a:avLst/>
          </a:prstGeom>
        </p:spPr>
        <p:txBody>
          <a:bodyPr anchor="t" rtlCol="false" tIns="0" lIns="0" bIns="0" rIns="0">
            <a:spAutoFit/>
          </a:bodyPr>
          <a:lstStyle/>
          <a:p>
            <a:pPr algn="ctr">
              <a:lnSpc>
                <a:spcPts val="6875"/>
              </a:lnSpc>
            </a:pPr>
            <a:r>
              <a:rPr lang="en-US" sz="6610">
                <a:solidFill>
                  <a:srgbClr val="FFFFFF"/>
                </a:solidFill>
                <a:latin typeface="Anton"/>
                <a:ea typeface="Anton"/>
                <a:cs typeface="Anton"/>
                <a:sym typeface="Anton"/>
              </a:rPr>
              <a:t>FEATURE ENGINEERING</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sp>
        <p:nvSpPr>
          <p:cNvPr name="Freeform 6" id="6"/>
          <p:cNvSpPr/>
          <p:nvPr/>
        </p:nvSpPr>
        <p:spPr>
          <a:xfrm flipH="false" flipV="false" rot="0">
            <a:off x="-1052485" y="912245"/>
            <a:ext cx="3690249" cy="3648075"/>
          </a:xfrm>
          <a:custGeom>
            <a:avLst/>
            <a:gdLst/>
            <a:ahLst/>
            <a:cxnLst/>
            <a:rect r="r" b="b" t="t" l="l"/>
            <a:pathLst>
              <a:path h="3648075" w="3690249">
                <a:moveTo>
                  <a:pt x="0" y="0"/>
                </a:moveTo>
                <a:lnTo>
                  <a:pt x="3690249" y="0"/>
                </a:lnTo>
                <a:lnTo>
                  <a:pt x="3690249" y="3648075"/>
                </a:lnTo>
                <a:lnTo>
                  <a:pt x="0" y="36480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5594249" y="7200900"/>
            <a:ext cx="4162370" cy="4114800"/>
          </a:xfrm>
          <a:custGeom>
            <a:avLst/>
            <a:gdLst/>
            <a:ahLst/>
            <a:cxnLst/>
            <a:rect r="r" b="b" t="t" l="l"/>
            <a:pathLst>
              <a:path h="4114800" w="4162370">
                <a:moveTo>
                  <a:pt x="0" y="0"/>
                </a:moveTo>
                <a:lnTo>
                  <a:pt x="4162370" y="0"/>
                </a:lnTo>
                <a:lnTo>
                  <a:pt x="416237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aphicFrame>
        <p:nvGraphicFramePr>
          <p:cNvPr name="Object 8" id="8"/>
          <p:cNvGraphicFramePr/>
          <p:nvPr/>
        </p:nvGraphicFramePr>
        <p:xfrm>
          <a:off x="1724600" y="2597355"/>
          <a:ext cx="14937229" cy="3767658"/>
        </p:xfrm>
        <a:graphic>
          <a:graphicData uri="http://schemas.openxmlformats.org/presentationml/2006/ole">
            <p:oleObj imgW="17919700" imgH="6743700" r:id="rId6" progId="Excel.Sheet.12" name="Worksheet">
              <p:embed/>
              <p:pic>
                <p:nvPicPr>
                  <p:cNvPr name="" id="0"/>
                  <p:cNvPicPr/>
                  <p:nvPr/>
                </p:nvPicPr>
                <p:blipFill>
                  <a:blip r:embed="rId5"/>
                  <a:stretch>
                    <a:fillRect/>
                  </a:stretch>
                </p:blipFill>
                <p:spPr>
                  <a:xfrm>
                    <a:off x="1270000" y="1270000"/>
                    <a:ext cx="1270000" cy="1270000"/>
                  </a:xfrm>
                  <a:prstGeom prst="rect"/>
                </p:spPr>
              </p:pic>
            </p:oleObj>
          </a:graphicData>
        </a:graphic>
      </p:graphicFrame>
      <p:sp>
        <p:nvSpPr>
          <p:cNvPr name="Freeform 9" id="9"/>
          <p:cNvSpPr/>
          <p:nvPr/>
        </p:nvSpPr>
        <p:spPr>
          <a:xfrm flipH="false" flipV="false" rot="0">
            <a:off x="2866818" y="6864555"/>
            <a:ext cx="12554363" cy="2479487"/>
          </a:xfrm>
          <a:custGeom>
            <a:avLst/>
            <a:gdLst/>
            <a:ahLst/>
            <a:cxnLst/>
            <a:rect r="r" b="b" t="t" l="l"/>
            <a:pathLst>
              <a:path h="2479487" w="12554363">
                <a:moveTo>
                  <a:pt x="0" y="0"/>
                </a:moveTo>
                <a:lnTo>
                  <a:pt x="12554364" y="0"/>
                </a:lnTo>
                <a:lnTo>
                  <a:pt x="12554364" y="2479487"/>
                </a:lnTo>
                <a:lnTo>
                  <a:pt x="0" y="2479487"/>
                </a:lnTo>
                <a:lnTo>
                  <a:pt x="0" y="0"/>
                </a:lnTo>
                <a:close/>
              </a:path>
            </a:pathLst>
          </a:custGeom>
          <a:blipFill>
            <a:blip r:embed="rId7"/>
            <a:stretch>
              <a:fillRect l="0" t="0" r="0" b="0"/>
            </a:stretch>
          </a:blipFill>
        </p:spPr>
      </p:sp>
      <p:sp>
        <p:nvSpPr>
          <p:cNvPr name="TextBox 10" id="10"/>
          <p:cNvSpPr txBox="true"/>
          <p:nvPr/>
        </p:nvSpPr>
        <p:spPr>
          <a:xfrm rot="0">
            <a:off x="3850193" y="634589"/>
            <a:ext cx="10587614" cy="892997"/>
          </a:xfrm>
          <a:prstGeom prst="rect">
            <a:avLst/>
          </a:prstGeom>
        </p:spPr>
        <p:txBody>
          <a:bodyPr anchor="t" rtlCol="false" tIns="0" lIns="0" bIns="0" rIns="0">
            <a:spAutoFit/>
          </a:bodyPr>
          <a:lstStyle/>
          <a:p>
            <a:pPr algn="ctr">
              <a:lnSpc>
                <a:spcPts val="6875"/>
              </a:lnSpc>
            </a:pPr>
            <a:r>
              <a:rPr lang="en-US" sz="6610">
                <a:solidFill>
                  <a:srgbClr val="FFFFFF"/>
                </a:solidFill>
                <a:latin typeface="Anton"/>
                <a:ea typeface="Anton"/>
                <a:cs typeface="Anton"/>
                <a:sym typeface="Anton"/>
              </a:rPr>
              <a:t>ENCODING &amp; SCALING</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sp>
        <p:nvSpPr>
          <p:cNvPr name="TextBox 6" id="6"/>
          <p:cNvSpPr txBox="true"/>
          <p:nvPr/>
        </p:nvSpPr>
        <p:spPr>
          <a:xfrm rot="0">
            <a:off x="5206150" y="632923"/>
            <a:ext cx="7875700" cy="896330"/>
          </a:xfrm>
          <a:prstGeom prst="rect">
            <a:avLst/>
          </a:prstGeom>
        </p:spPr>
        <p:txBody>
          <a:bodyPr anchor="t" rtlCol="false" tIns="0" lIns="0" bIns="0" rIns="0">
            <a:spAutoFit/>
          </a:bodyPr>
          <a:lstStyle/>
          <a:p>
            <a:pPr algn="l">
              <a:lnSpc>
                <a:spcPts val="6875"/>
              </a:lnSpc>
            </a:pPr>
            <a:r>
              <a:rPr lang="en-US" sz="6610">
                <a:solidFill>
                  <a:srgbClr val="FFFFFF"/>
                </a:solidFill>
                <a:latin typeface="Anton"/>
                <a:ea typeface="Anton"/>
                <a:cs typeface="Anton"/>
                <a:sym typeface="Anton"/>
              </a:rPr>
              <a:t>MODEL RANDOM FOREST</a:t>
            </a:r>
          </a:p>
        </p:txBody>
      </p:sp>
      <p:sp>
        <p:nvSpPr>
          <p:cNvPr name="TextBox 7" id="7"/>
          <p:cNvSpPr txBox="true"/>
          <p:nvPr/>
        </p:nvSpPr>
        <p:spPr>
          <a:xfrm rot="0">
            <a:off x="4009707" y="2714999"/>
            <a:ext cx="10268586" cy="3341695"/>
          </a:xfrm>
          <a:prstGeom prst="rect">
            <a:avLst/>
          </a:prstGeom>
        </p:spPr>
        <p:txBody>
          <a:bodyPr anchor="t" rtlCol="false" tIns="0" lIns="0" bIns="0" rIns="0">
            <a:spAutoFit/>
          </a:bodyPr>
          <a:lstStyle/>
          <a:p>
            <a:pPr algn="l">
              <a:lnSpc>
                <a:spcPts val="3708"/>
              </a:lnSpc>
            </a:pPr>
            <a:r>
              <a:rPr lang="en-US" sz="2767">
                <a:solidFill>
                  <a:srgbClr val="050056"/>
                </a:solidFill>
                <a:latin typeface="Agrandir"/>
                <a:ea typeface="Agrandir"/>
                <a:cs typeface="Agrandir"/>
                <a:sym typeface="Agrandir"/>
              </a:rPr>
              <a:t>[STEP 1]          [STEP 2]                 [STEP 3]                 [STEP 4]</a:t>
            </a:r>
            <a:r>
              <a:rPr lang="en-US" sz="2767">
                <a:solidFill>
                  <a:srgbClr val="050056"/>
                </a:solidFill>
                <a:latin typeface="Agrandir"/>
                <a:ea typeface="Agrandir"/>
                <a:cs typeface="Agrandir"/>
                <a:sym typeface="Agrandir"/>
              </a:rPr>
              <a:t>            </a:t>
            </a:r>
          </a:p>
          <a:p>
            <a:pPr algn="l">
              <a:lnSpc>
                <a:spcPts val="3708"/>
              </a:lnSpc>
            </a:pPr>
            <a:r>
              <a:rPr lang="en-US" sz="2767">
                <a:solidFill>
                  <a:srgbClr val="050056"/>
                </a:solidFill>
                <a:latin typeface="Agrandir"/>
                <a:ea typeface="Agrandir"/>
                <a:cs typeface="Agrandir"/>
                <a:sym typeface="Agrandir"/>
              </a:rPr>
              <a:t>Dataset    →    Bootstrap      →   Training             →   Voting</a:t>
            </a:r>
          </a:p>
          <a:p>
            <a:pPr algn="l">
              <a:lnSpc>
                <a:spcPts val="3708"/>
              </a:lnSpc>
            </a:pPr>
            <a:r>
              <a:rPr lang="en-US" sz="2767">
                <a:solidFill>
                  <a:srgbClr val="050056"/>
                </a:solidFill>
                <a:latin typeface="Agrandir"/>
                <a:ea typeface="Agrandir"/>
                <a:cs typeface="Agrandir"/>
                <a:sym typeface="Agrandir"/>
              </a:rPr>
              <a:t>Training           Sampling             Decision Trees       Mayoritas</a:t>
            </a:r>
          </a:p>
          <a:p>
            <a:pPr algn="l">
              <a:lnSpc>
                <a:spcPts val="3708"/>
              </a:lnSpc>
            </a:pPr>
            <a:r>
              <a:rPr lang="en-US" sz="2767">
                <a:solidFill>
                  <a:srgbClr val="050056"/>
                </a:solidFill>
                <a:latin typeface="Agrandir"/>
                <a:ea typeface="Agrandir"/>
                <a:cs typeface="Agrandir"/>
                <a:sym typeface="Agrandir"/>
              </a:rPr>
              <a:t>                                      </a:t>
            </a:r>
          </a:p>
          <a:p>
            <a:pPr algn="l">
              <a:lnSpc>
                <a:spcPts val="3708"/>
              </a:lnSpc>
            </a:pPr>
            <a:r>
              <a:rPr lang="en-US" sz="2767">
                <a:solidFill>
                  <a:srgbClr val="050056"/>
                </a:solidFill>
                <a:latin typeface="Agrandir"/>
                <a:ea typeface="Agrandir"/>
                <a:cs typeface="Agrandir"/>
                <a:sym typeface="Agrandir"/>
              </a:rPr>
              <a:t>                  </a:t>
            </a:r>
          </a:p>
          <a:p>
            <a:pPr algn="l">
              <a:lnSpc>
                <a:spcPts val="3708"/>
              </a:lnSpc>
            </a:pPr>
            <a:r>
              <a:rPr lang="en-US" sz="2767">
                <a:solidFill>
                  <a:srgbClr val="050056"/>
                </a:solidFill>
                <a:latin typeface="Agrandir"/>
                <a:ea typeface="Agrandir"/>
                <a:cs typeface="Agrandir"/>
                <a:sym typeface="Agrandir"/>
              </a:rPr>
              <a:t>10,000 data  →  3,202 per kelas →  200 Decision    →   Prediksi</a:t>
            </a:r>
          </a:p>
          <a:p>
            <a:pPr algn="l">
              <a:lnSpc>
                <a:spcPts val="3708"/>
              </a:lnSpc>
            </a:pPr>
            <a:r>
              <a:rPr lang="en-US" sz="2767">
                <a:solidFill>
                  <a:srgbClr val="050056"/>
                </a:solidFill>
                <a:latin typeface="Agrandir"/>
                <a:ea typeface="Agrandir"/>
                <a:cs typeface="Agrandir"/>
                <a:sym typeface="Agrandir"/>
              </a:rPr>
              <a:t>                                      (oversample)        Trees              Final</a:t>
            </a:r>
          </a:p>
        </p:txBody>
      </p:sp>
      <p:sp>
        <p:nvSpPr>
          <p:cNvPr name="TextBox 8" id="8"/>
          <p:cNvSpPr txBox="true"/>
          <p:nvPr/>
        </p:nvSpPr>
        <p:spPr>
          <a:xfrm rot="0">
            <a:off x="3628021" y="6701352"/>
            <a:ext cx="11031958" cy="1345001"/>
          </a:xfrm>
          <a:prstGeom prst="rect">
            <a:avLst/>
          </a:prstGeom>
        </p:spPr>
        <p:txBody>
          <a:bodyPr anchor="t" rtlCol="false" tIns="0" lIns="0" bIns="0" rIns="0">
            <a:spAutoFit/>
          </a:bodyPr>
          <a:lstStyle/>
          <a:p>
            <a:pPr algn="l">
              <a:lnSpc>
                <a:spcPts val="3440"/>
              </a:lnSpc>
            </a:pPr>
            <a:r>
              <a:rPr lang="en-US" sz="2567" b="true">
                <a:solidFill>
                  <a:srgbClr val="050056"/>
                </a:solidFill>
                <a:latin typeface="Agrandir Bold"/>
                <a:ea typeface="Agrandir Bold"/>
                <a:cs typeface="Agrandir Bold"/>
                <a:sym typeface="Agrandir Bold"/>
              </a:rPr>
              <a:t>Implementasi:</a:t>
            </a:r>
          </a:p>
          <a:p>
            <a:pPr algn="l">
              <a:lnSpc>
                <a:spcPts val="3440"/>
              </a:lnSpc>
            </a:pPr>
            <a:r>
              <a:rPr lang="en-US" sz="2567">
                <a:solidFill>
                  <a:srgbClr val="050056"/>
                </a:solidFill>
                <a:latin typeface="Agrandir"/>
                <a:ea typeface="Agrandir"/>
                <a:cs typeface="Agrandir"/>
                <a:sym typeface="Agrandir"/>
              </a:rPr>
              <a:t>rf_default = RandomForestClassifier(n_estimators=200,max_depth=20,</a:t>
            </a:r>
          </a:p>
          <a:p>
            <a:pPr algn="l">
              <a:lnSpc>
                <a:spcPts val="3440"/>
              </a:lnSpc>
            </a:pPr>
            <a:r>
              <a:rPr lang="en-US" sz="2567">
                <a:solidFill>
                  <a:srgbClr val="050056"/>
                </a:solidFill>
                <a:latin typeface="Agrandir"/>
                <a:ea typeface="Agrandir"/>
                <a:cs typeface="Agrandir"/>
                <a:sym typeface="Agrandir"/>
              </a:rPr>
              <a:t> random_state = 42, class_weight=’balanced’, n_jobs=1)</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graphicFrame>
        <p:nvGraphicFramePr>
          <p:cNvPr name="Object 6" id="6"/>
          <p:cNvGraphicFramePr/>
          <p:nvPr/>
        </p:nvGraphicFramePr>
        <p:xfrm>
          <a:off x="4294812" y="2555919"/>
          <a:ext cx="14411992" cy="8229600"/>
        </p:xfrm>
        <a:graphic>
          <a:graphicData uri="http://schemas.openxmlformats.org/presentationml/2006/ole">
            <p:oleObj imgW="17297400" imgH="111125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7" id="7"/>
          <p:cNvSpPr txBox="true"/>
          <p:nvPr/>
        </p:nvSpPr>
        <p:spPr>
          <a:xfrm rot="0">
            <a:off x="3422296" y="426246"/>
            <a:ext cx="11443408" cy="892997"/>
          </a:xfrm>
          <a:prstGeom prst="rect">
            <a:avLst/>
          </a:prstGeom>
        </p:spPr>
        <p:txBody>
          <a:bodyPr anchor="t" rtlCol="false" tIns="0" lIns="0" bIns="0" rIns="0">
            <a:spAutoFit/>
          </a:bodyPr>
          <a:lstStyle/>
          <a:p>
            <a:pPr algn="ctr">
              <a:lnSpc>
                <a:spcPts val="6875"/>
              </a:lnSpc>
            </a:pPr>
            <a:r>
              <a:rPr lang="en-US" sz="6610">
                <a:solidFill>
                  <a:srgbClr val="FFFFFF"/>
                </a:solidFill>
                <a:latin typeface="Anton"/>
                <a:ea typeface="Anton"/>
                <a:cs typeface="Anton"/>
                <a:sym typeface="Anton"/>
              </a:rPr>
              <a:t>EVALUASI MODEL</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sp>
        <p:nvSpPr>
          <p:cNvPr name="Freeform 6" id="6"/>
          <p:cNvSpPr/>
          <p:nvPr/>
        </p:nvSpPr>
        <p:spPr>
          <a:xfrm flipH="false" flipV="false" rot="0">
            <a:off x="4680038" y="3172172"/>
            <a:ext cx="8927923" cy="5516747"/>
          </a:xfrm>
          <a:custGeom>
            <a:avLst/>
            <a:gdLst/>
            <a:ahLst/>
            <a:cxnLst/>
            <a:rect r="r" b="b" t="t" l="l"/>
            <a:pathLst>
              <a:path h="5516747" w="8927923">
                <a:moveTo>
                  <a:pt x="0" y="0"/>
                </a:moveTo>
                <a:lnTo>
                  <a:pt x="8927924" y="0"/>
                </a:lnTo>
                <a:lnTo>
                  <a:pt x="8927924" y="5516747"/>
                </a:lnTo>
                <a:lnTo>
                  <a:pt x="0" y="5516747"/>
                </a:lnTo>
                <a:lnTo>
                  <a:pt x="0" y="0"/>
                </a:lnTo>
                <a:close/>
              </a:path>
            </a:pathLst>
          </a:custGeom>
          <a:blipFill>
            <a:blip r:embed="rId3"/>
            <a:stretch>
              <a:fillRect l="0" t="0" r="0" b="0"/>
            </a:stretch>
          </a:blipFill>
        </p:spPr>
      </p:sp>
      <p:sp>
        <p:nvSpPr>
          <p:cNvPr name="TextBox 7" id="7"/>
          <p:cNvSpPr txBox="true"/>
          <p:nvPr/>
        </p:nvSpPr>
        <p:spPr>
          <a:xfrm rot="0">
            <a:off x="3422296" y="634589"/>
            <a:ext cx="11443408" cy="892997"/>
          </a:xfrm>
          <a:prstGeom prst="rect">
            <a:avLst/>
          </a:prstGeom>
        </p:spPr>
        <p:txBody>
          <a:bodyPr anchor="t" rtlCol="false" tIns="0" lIns="0" bIns="0" rIns="0">
            <a:spAutoFit/>
          </a:bodyPr>
          <a:lstStyle/>
          <a:p>
            <a:pPr algn="ctr">
              <a:lnSpc>
                <a:spcPts val="6875"/>
              </a:lnSpc>
            </a:pPr>
            <a:r>
              <a:rPr lang="en-US" sz="6610">
                <a:solidFill>
                  <a:srgbClr val="FFFFFF"/>
                </a:solidFill>
                <a:latin typeface="Anton"/>
                <a:ea typeface="Anton"/>
                <a:cs typeface="Anton"/>
                <a:sym typeface="Anton"/>
              </a:rPr>
              <a:t>DISTRIBUSI KELAS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graphicFrame>
        <p:nvGraphicFramePr>
          <p:cNvPr name="Object 6" id="6"/>
          <p:cNvGraphicFramePr/>
          <p:nvPr/>
        </p:nvGraphicFramePr>
        <p:xfrm>
          <a:off x="3236357" y="3814465"/>
          <a:ext cx="15856337" cy="7762743"/>
        </p:xfrm>
        <a:graphic>
          <a:graphicData uri="http://schemas.openxmlformats.org/presentationml/2006/ole">
            <p:oleObj imgW="19024600" imgH="10934700" r:id="rId4" progId="Excel.Sheet.12" name="Worksheet">
              <p:embed/>
              <p:pic>
                <p:nvPicPr>
                  <p:cNvPr name="" id="0"/>
                  <p:cNvPicPr/>
                  <p:nvPr/>
                </p:nvPicPr>
                <p:blipFill>
                  <a:blip r:embed="rId3"/>
                  <a:stretch>
                    <a:fillRect/>
                  </a:stretch>
                </p:blipFill>
                <p:spPr>
                  <a:xfrm>
                    <a:off x="1270000" y="1270000"/>
                    <a:ext cx="1270000" cy="1270000"/>
                  </a:xfrm>
                  <a:prstGeom prst="rect"/>
                </p:spPr>
              </p:pic>
            </p:oleObj>
          </a:graphicData>
        </a:graphic>
      </p:graphicFrame>
      <p:sp>
        <p:nvSpPr>
          <p:cNvPr name="TextBox 7" id="7"/>
          <p:cNvSpPr txBox="true"/>
          <p:nvPr/>
        </p:nvSpPr>
        <p:spPr>
          <a:xfrm rot="0">
            <a:off x="2571689" y="634589"/>
            <a:ext cx="13144622" cy="892997"/>
          </a:xfrm>
          <a:prstGeom prst="rect">
            <a:avLst/>
          </a:prstGeom>
        </p:spPr>
        <p:txBody>
          <a:bodyPr anchor="t" rtlCol="false" tIns="0" lIns="0" bIns="0" rIns="0">
            <a:spAutoFit/>
          </a:bodyPr>
          <a:lstStyle/>
          <a:p>
            <a:pPr algn="ctr">
              <a:lnSpc>
                <a:spcPts val="6875"/>
              </a:lnSpc>
            </a:pPr>
            <a:r>
              <a:rPr lang="en-US" sz="6610">
                <a:solidFill>
                  <a:srgbClr val="FFFFFF"/>
                </a:solidFill>
                <a:latin typeface="Anton"/>
                <a:ea typeface="Anton"/>
                <a:cs typeface="Anton"/>
                <a:sym typeface="Anton"/>
              </a:rPr>
              <a:t>MULTIOUTPUTCLASSIFIER (6 JENIS RISIKO)</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514350" y="-1221579"/>
            <a:ext cx="20831283" cy="3086100"/>
            <a:chOff x="0" y="0"/>
            <a:chExt cx="5486429" cy="812800"/>
          </a:xfrm>
        </p:grpSpPr>
        <p:sp>
          <p:nvSpPr>
            <p:cNvPr name="Freeform 4" id="4"/>
            <p:cNvSpPr/>
            <p:nvPr/>
          </p:nvSpPr>
          <p:spPr>
            <a:xfrm flipH="false" flipV="false" rot="0">
              <a:off x="0" y="0"/>
              <a:ext cx="5486429" cy="812800"/>
            </a:xfrm>
            <a:custGeom>
              <a:avLst/>
              <a:gdLst/>
              <a:ahLst/>
              <a:cxnLst/>
              <a:rect r="r" b="b" t="t" l="l"/>
              <a:pathLst>
                <a:path h="812800" w="5486429">
                  <a:moveTo>
                    <a:pt x="0" y="0"/>
                  </a:moveTo>
                  <a:lnTo>
                    <a:pt x="5486429" y="0"/>
                  </a:lnTo>
                  <a:lnTo>
                    <a:pt x="5486429" y="812800"/>
                  </a:lnTo>
                  <a:lnTo>
                    <a:pt x="0" y="812800"/>
                  </a:lnTo>
                  <a:close/>
                </a:path>
              </a:pathLst>
            </a:custGeom>
            <a:gradFill rotWithShape="true">
              <a:gsLst>
                <a:gs pos="0">
                  <a:srgbClr val="0C2756">
                    <a:alpha val="100000"/>
                  </a:srgbClr>
                </a:gs>
                <a:gs pos="100000">
                  <a:srgbClr val="1E527D">
                    <a:alpha val="100000"/>
                  </a:srgbClr>
                </a:gs>
              </a:gsLst>
              <a:lin ang="0"/>
            </a:gradFill>
          </p:spPr>
        </p:sp>
        <p:sp>
          <p:nvSpPr>
            <p:cNvPr name="TextBox 5" id="5"/>
            <p:cNvSpPr txBox="true"/>
            <p:nvPr/>
          </p:nvSpPr>
          <p:spPr>
            <a:xfrm>
              <a:off x="0" y="-28575"/>
              <a:ext cx="5486429" cy="841375"/>
            </a:xfrm>
            <a:prstGeom prst="rect">
              <a:avLst/>
            </a:prstGeom>
          </p:spPr>
          <p:txBody>
            <a:bodyPr anchor="ctr" rtlCol="false" tIns="50800" lIns="50800" bIns="50800" rIns="50800"/>
            <a:lstStyle/>
            <a:p>
              <a:pPr algn="ctr">
                <a:lnSpc>
                  <a:spcPts val="2126"/>
                </a:lnSpc>
              </a:pPr>
            </a:p>
          </p:txBody>
        </p:sp>
      </p:grpSp>
      <p:sp>
        <p:nvSpPr>
          <p:cNvPr name="Freeform 6" id="6"/>
          <p:cNvSpPr/>
          <p:nvPr/>
        </p:nvSpPr>
        <p:spPr>
          <a:xfrm flipH="false" flipV="false" rot="0">
            <a:off x="4294836" y="2315679"/>
            <a:ext cx="11212911" cy="7477610"/>
          </a:xfrm>
          <a:custGeom>
            <a:avLst/>
            <a:gdLst/>
            <a:ahLst/>
            <a:cxnLst/>
            <a:rect r="r" b="b" t="t" l="l"/>
            <a:pathLst>
              <a:path h="7477610" w="11212911">
                <a:moveTo>
                  <a:pt x="0" y="0"/>
                </a:moveTo>
                <a:lnTo>
                  <a:pt x="11212911" y="0"/>
                </a:lnTo>
                <a:lnTo>
                  <a:pt x="11212911" y="7477610"/>
                </a:lnTo>
                <a:lnTo>
                  <a:pt x="0" y="7477610"/>
                </a:lnTo>
                <a:lnTo>
                  <a:pt x="0" y="0"/>
                </a:lnTo>
                <a:close/>
              </a:path>
            </a:pathLst>
          </a:custGeom>
          <a:blipFill>
            <a:blip r:embed="rId3"/>
            <a:stretch>
              <a:fillRect l="0" t="0" r="0" b="0"/>
            </a:stretch>
          </a:blipFill>
        </p:spPr>
      </p:sp>
      <p:sp>
        <p:nvSpPr>
          <p:cNvPr name="TextBox 7" id="7"/>
          <p:cNvSpPr txBox="true"/>
          <p:nvPr/>
        </p:nvSpPr>
        <p:spPr>
          <a:xfrm rot="0">
            <a:off x="6513681" y="426246"/>
            <a:ext cx="6775221" cy="896330"/>
          </a:xfrm>
          <a:prstGeom prst="rect">
            <a:avLst/>
          </a:prstGeom>
        </p:spPr>
        <p:txBody>
          <a:bodyPr anchor="t" rtlCol="false" tIns="0" lIns="0" bIns="0" rIns="0">
            <a:spAutoFit/>
          </a:bodyPr>
          <a:lstStyle/>
          <a:p>
            <a:pPr algn="l">
              <a:lnSpc>
                <a:spcPts val="6875"/>
              </a:lnSpc>
            </a:pPr>
            <a:r>
              <a:rPr lang="en-US" sz="6610">
                <a:solidFill>
                  <a:srgbClr val="FFFFFF"/>
                </a:solidFill>
                <a:latin typeface="Anton"/>
                <a:ea typeface="Anton"/>
                <a:cs typeface="Anton"/>
                <a:sym typeface="Anton"/>
              </a:rPr>
              <a:t>FEATURE IMPORTANCE</a:t>
            </a:r>
          </a:p>
        </p:txBody>
      </p:sp>
    </p:spTree>
  </p:cSld>
  <p:clrMapOvr>
    <a:masterClrMapping/>
  </p:clrMapOvr>
</p:sld>
</file>

<file path=ppt/slides/slide17.xml><?xml version="1.0" encoding="utf-8"?>
<p:sld xmlns:p="http://schemas.openxmlformats.org/presentationml/2006/main" xmlns:a="http://schemas.openxmlformats.org/drawingml/2006/main">
  <p:cSld>
    <p:bg>
      <p:bgPr>
        <a:gradFill rotWithShape="true">
          <a:gsLst>
            <a:gs pos="0">
              <a:srgbClr val="0C2756">
                <a:alpha val="100000"/>
              </a:srgbClr>
            </a:gs>
            <a:gs pos="100000">
              <a:srgbClr val="1E527D">
                <a:alpha val="100000"/>
              </a:srgbClr>
            </a:gs>
          </a:gsLst>
          <a:lin ang="0"/>
        </a:gradFill>
      </p:bgPr>
    </p:bg>
    <p:spTree>
      <p:nvGrpSpPr>
        <p:cNvPr id="1" name=""/>
        <p:cNvGrpSpPr/>
        <p:nvPr/>
      </p:nvGrpSpPr>
      <p:grpSpPr>
        <a:xfrm>
          <a:off x="0" y="0"/>
          <a:ext cx="0" cy="0"/>
          <a:chOff x="0" y="0"/>
          <a:chExt cx="0" cy="0"/>
        </a:xfrm>
      </p:grpSpPr>
      <p:sp>
        <p:nvSpPr>
          <p:cNvPr name="TextBox 2" id="2"/>
          <p:cNvSpPr txBox="true"/>
          <p:nvPr/>
        </p:nvSpPr>
        <p:spPr>
          <a:xfrm rot="0">
            <a:off x="5066753" y="4170788"/>
            <a:ext cx="8154494" cy="2174023"/>
          </a:xfrm>
          <a:prstGeom prst="rect">
            <a:avLst/>
          </a:prstGeom>
        </p:spPr>
        <p:txBody>
          <a:bodyPr anchor="t" rtlCol="false" tIns="0" lIns="0" bIns="0" rIns="0">
            <a:spAutoFit/>
          </a:bodyPr>
          <a:lstStyle/>
          <a:p>
            <a:pPr algn="l">
              <a:lnSpc>
                <a:spcPts val="16415"/>
              </a:lnSpc>
            </a:pPr>
            <a:r>
              <a:rPr lang="en-US" sz="15784">
                <a:solidFill>
                  <a:srgbClr val="FFFFFF"/>
                </a:solidFill>
                <a:latin typeface="Anton"/>
                <a:ea typeface="Anton"/>
                <a:cs typeface="Anton"/>
                <a:sym typeface="Anto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DAHK3T1JEWM</dc:identifier>
  <dcterms:modified xsi:type="dcterms:W3CDTF">2011-08-01T06:04:30Z</dcterms:modified>
  <cp:revision>1</cp:revision>
  <dc:title>Model MAchine learning</dc:title>
</cp:coreProperties>
</file>